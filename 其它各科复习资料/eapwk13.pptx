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9" r:id="rId3"/>
    <p:sldId id="310" r:id="rId4"/>
    <p:sldId id="261" r:id="rId5"/>
    <p:sldId id="300" r:id="rId6"/>
    <p:sldId id="260" r:id="rId7"/>
    <p:sldId id="319" r:id="rId8"/>
    <p:sldId id="311" r:id="rId9"/>
    <p:sldId id="312" r:id="rId10"/>
    <p:sldId id="313" r:id="rId11"/>
    <p:sldId id="314" r:id="rId12"/>
    <p:sldId id="315" r:id="rId13"/>
    <p:sldId id="316" r:id="rId14"/>
    <p:sldId id="317" r:id="rId15"/>
    <p:sldId id="265" r:id="rId16"/>
    <p:sldId id="324" r:id="rId17"/>
    <p:sldId id="266" r:id="rId18"/>
    <p:sldId id="270" r:id="rId19"/>
    <p:sldId id="267" r:id="rId20"/>
    <p:sldId id="268" r:id="rId21"/>
    <p:sldId id="269" r:id="rId22"/>
    <p:sldId id="271" r:id="rId23"/>
    <p:sldId id="272" r:id="rId24"/>
    <p:sldId id="273" r:id="rId25"/>
    <p:sldId id="274" r:id="rId26"/>
    <p:sldId id="275" r:id="rId27"/>
    <p:sldId id="277" r:id="rId28"/>
    <p:sldId id="276" r:id="rId29"/>
    <p:sldId id="278" r:id="rId30"/>
    <p:sldId id="280" r:id="rId31"/>
    <p:sldId id="279" r:id="rId32"/>
    <p:sldId id="281" r:id="rId33"/>
    <p:sldId id="284" r:id="rId34"/>
    <p:sldId id="283" r:id="rId35"/>
    <p:sldId id="285" r:id="rId36"/>
    <p:sldId id="290" r:id="rId37"/>
    <p:sldId id="291" r:id="rId38"/>
    <p:sldId id="296" r:id="rId39"/>
    <p:sldId id="286" r:id="rId40"/>
    <p:sldId id="306" r:id="rId41"/>
    <p:sldId id="287" r:id="rId42"/>
    <p:sldId id="288" r:id="rId43"/>
    <p:sldId id="318" r:id="rId44"/>
    <p:sldId id="323" r:id="rId45"/>
    <p:sldId id="289" r:id="rId46"/>
    <p:sldId id="307" r:id="rId47"/>
    <p:sldId id="308" r:id="rId48"/>
    <p:sldId id="292" r:id="rId49"/>
    <p:sldId id="293" r:id="rId50"/>
    <p:sldId id="294" r:id="rId51"/>
    <p:sldId id="295" r:id="rId52"/>
    <p:sldId id="297" r:id="rId53"/>
    <p:sldId id="309" r:id="rId54"/>
    <p:sldId id="303" r:id="rId55"/>
    <p:sldId id="320" r:id="rId56"/>
    <p:sldId id="321" r:id="rId57"/>
    <p:sldId id="322" r:id="rId58"/>
    <p:sldId id="298" r:id="rId59"/>
    <p:sldId id="301" r:id="rId60"/>
    <p:sldId id="299" r:id="rId6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31596" initials="3" lastIdx="1" clrIdx="0">
    <p:extLst>
      <p:ext uri="{19B8F6BF-5375-455C-9EA6-DF929625EA0E}">
        <p15:presenceInfo xmlns:p15="http://schemas.microsoft.com/office/powerpoint/2012/main" userId="31596"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31" autoAdjust="0"/>
    <p:restoredTop sz="94660"/>
  </p:normalViewPr>
  <p:slideViewPr>
    <p:cSldViewPr snapToGrid="0">
      <p:cViewPr varScale="1">
        <p:scale>
          <a:sx n="110" d="100"/>
          <a:sy n="110" d="100"/>
        </p:scale>
        <p:origin x="96" y="5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4-24T15:28:52.156" idx="1">
    <p:pos x="10" y="10"/>
    <p:text/>
    <p:extLst>
      <p:ext uri="{C676402C-5697-4E1C-873F-D02D1690AC5C}">
        <p15:threadingInfo xmlns:p15="http://schemas.microsoft.com/office/powerpoint/2012/main" timeZoneBias="-480"/>
      </p:ext>
    </p:extLst>
  </p:cm>
</p:cmLst>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slideMaster" Target="../slideMasters/slideMaster1.xml"/><Relationship Id="rId5" Type="http://schemas.openxmlformats.org/officeDocument/2006/relationships/tags" Target="../tags/tag10.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slideMaster" Target="../slideMasters/slideMaster1.xml"/><Relationship Id="rId5" Type="http://schemas.openxmlformats.org/officeDocument/2006/relationships/tags" Target="../tags/tag15.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Master" Target="../slideMasters/slideMaster1.xml"/><Relationship Id="rId5" Type="http://schemas.openxmlformats.org/officeDocument/2006/relationships/tags" Target="../tags/tag20.xml"/><Relationship Id="rId4" Type="http://schemas.openxmlformats.org/officeDocument/2006/relationships/tags" Target="../tags/tag19.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slideMaster" Target="../slideMasters/slideMaster1.xml"/><Relationship Id="rId4" Type="http://schemas.openxmlformats.org/officeDocument/2006/relationships/tags" Target="../tags/tag38.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Master" Target="../slideMasters/slideMaster1.xml"/><Relationship Id="rId5" Type="http://schemas.openxmlformats.org/officeDocument/2006/relationships/tags" Target="../tags/tag52.xml"/><Relationship Id="rId4" Type="http://schemas.openxmlformats.org/officeDocument/2006/relationships/tags" Target="../tags/tag5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slideMaster" Target="../slideMasters/slideMaster1.xml"/><Relationship Id="rId4" Type="http://schemas.openxmlformats.org/officeDocument/2006/relationships/tags" Target="../tags/tag56.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1.xml"/><Relationship Id="rId5" Type="http://schemas.openxmlformats.org/officeDocument/2006/relationships/tags" Target="../tags/tag61.xml"/><Relationship Id="rId4" Type="http://schemas.openxmlformats.org/officeDocument/2006/relationships/tags" Target="../tags/tag6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581"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1048582"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048583"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1048584" name="页脚占位符 16"/>
          <p:cNvSpPr>
            <a:spLocks noGrp="1"/>
          </p:cNvSpPr>
          <p:nvPr>
            <p:ph type="ftr" sz="quarter" idx="11"/>
            <p:custDataLst>
              <p:tags r:id="rId4"/>
            </p:custDataLst>
          </p:nvPr>
        </p:nvSpPr>
        <p:spPr/>
        <p:txBody>
          <a:bodyPr/>
          <a:lstStyle/>
          <a:p>
            <a:endParaRPr lang="zh-CN" altLang="en-US" dirty="0"/>
          </a:p>
        </p:txBody>
      </p:sp>
      <p:sp>
        <p:nvSpPr>
          <p:cNvPr id="1048585"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8"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589"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590"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1048591" name="页脚占位符 4"/>
          <p:cNvSpPr>
            <a:spLocks noGrp="1"/>
          </p:cNvSpPr>
          <p:nvPr>
            <p:ph type="ftr" sz="quarter" idx="11"/>
            <p:custDataLst>
              <p:tags r:id="rId4"/>
            </p:custDataLst>
          </p:nvPr>
        </p:nvSpPr>
        <p:spPr/>
        <p:txBody>
          <a:bodyPr/>
          <a:lstStyle/>
          <a:p>
            <a:endParaRPr lang="zh-CN" altLang="en-US"/>
          </a:p>
        </p:txBody>
      </p:sp>
      <p:sp>
        <p:nvSpPr>
          <p:cNvPr id="1048592"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65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104865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104865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1048655" name="页脚占位符 4"/>
          <p:cNvSpPr>
            <a:spLocks noGrp="1"/>
          </p:cNvSpPr>
          <p:nvPr>
            <p:ph type="ftr" sz="quarter" idx="11"/>
            <p:custDataLst>
              <p:tags r:id="rId4"/>
            </p:custDataLst>
          </p:nvPr>
        </p:nvSpPr>
        <p:spPr/>
        <p:txBody>
          <a:bodyPr/>
          <a:lstStyle/>
          <a:p>
            <a:endParaRPr lang="zh-CN" altLang="en-US"/>
          </a:p>
        </p:txBody>
      </p:sp>
      <p:sp>
        <p:nvSpPr>
          <p:cNvPr id="104865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657"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658"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59"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660"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2026/3/12</a:t>
            </a:fld>
            <a:endParaRPr lang="zh-CN" altLang="en-US"/>
          </a:p>
        </p:txBody>
      </p:sp>
      <p:sp>
        <p:nvSpPr>
          <p:cNvPr id="1048661" name="页脚占位符 5"/>
          <p:cNvSpPr>
            <a:spLocks noGrp="1"/>
          </p:cNvSpPr>
          <p:nvPr>
            <p:ph type="ftr" sz="quarter" idx="11"/>
            <p:custDataLst>
              <p:tags r:id="rId5"/>
            </p:custDataLst>
          </p:nvPr>
        </p:nvSpPr>
        <p:spPr/>
        <p:txBody>
          <a:bodyPr/>
          <a:lstStyle/>
          <a:p>
            <a:endParaRPr lang="zh-CN" altLang="en-US"/>
          </a:p>
        </p:txBody>
      </p:sp>
      <p:sp>
        <p:nvSpPr>
          <p:cNvPr id="1048662"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663"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664"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1048665"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66"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1048667"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68"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2026/3/12</a:t>
            </a:fld>
            <a:endParaRPr lang="zh-CN" altLang="en-US"/>
          </a:p>
        </p:txBody>
      </p:sp>
      <p:sp>
        <p:nvSpPr>
          <p:cNvPr id="1048669" name="页脚占位符 7"/>
          <p:cNvSpPr>
            <a:spLocks noGrp="1"/>
          </p:cNvSpPr>
          <p:nvPr>
            <p:ph type="ftr" sz="quarter" idx="11"/>
            <p:custDataLst>
              <p:tags r:id="rId7"/>
            </p:custDataLst>
          </p:nvPr>
        </p:nvSpPr>
        <p:spPr/>
        <p:txBody>
          <a:bodyPr/>
          <a:lstStyle/>
          <a:p>
            <a:endParaRPr lang="zh-CN" altLang="en-US"/>
          </a:p>
        </p:txBody>
      </p:sp>
      <p:sp>
        <p:nvSpPr>
          <p:cNvPr id="1048670"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639"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1048640"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2026/3/12</a:t>
            </a:fld>
            <a:endParaRPr lang="zh-CN" altLang="en-US"/>
          </a:p>
        </p:txBody>
      </p:sp>
      <p:sp>
        <p:nvSpPr>
          <p:cNvPr id="1048641" name="页脚占位符 3"/>
          <p:cNvSpPr>
            <a:spLocks noGrp="1"/>
          </p:cNvSpPr>
          <p:nvPr>
            <p:ph type="ftr" sz="quarter" idx="11"/>
            <p:custDataLst>
              <p:tags r:id="rId3"/>
            </p:custDataLst>
          </p:nvPr>
        </p:nvSpPr>
        <p:spPr/>
        <p:txBody>
          <a:bodyPr/>
          <a:lstStyle/>
          <a:p>
            <a:endParaRPr lang="zh-CN" altLang="en-US"/>
          </a:p>
        </p:txBody>
      </p:sp>
      <p:sp>
        <p:nvSpPr>
          <p:cNvPr id="1048642"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71"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1048672" name="页脚占位符 2"/>
          <p:cNvSpPr>
            <a:spLocks noGrp="1"/>
          </p:cNvSpPr>
          <p:nvPr>
            <p:ph type="ftr" sz="quarter" idx="11"/>
            <p:custDataLst>
              <p:tags r:id="rId2"/>
            </p:custDataLst>
          </p:nvPr>
        </p:nvSpPr>
        <p:spPr/>
        <p:txBody>
          <a:bodyPr/>
          <a:lstStyle/>
          <a:p>
            <a:endParaRPr lang="zh-CN" altLang="en-US"/>
          </a:p>
        </p:txBody>
      </p:sp>
      <p:sp>
        <p:nvSpPr>
          <p:cNvPr id="1048673"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674"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1048675"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1048676"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2026/3/12</a:t>
            </a:fld>
            <a:endParaRPr lang="zh-CN" altLang="en-US" dirty="0"/>
          </a:p>
        </p:txBody>
      </p:sp>
      <p:sp>
        <p:nvSpPr>
          <p:cNvPr id="1048677" name="页脚占位符 5"/>
          <p:cNvSpPr>
            <a:spLocks noGrp="1"/>
          </p:cNvSpPr>
          <p:nvPr>
            <p:ph type="ftr" sz="quarter" idx="11"/>
            <p:custDataLst>
              <p:tags r:id="rId4"/>
            </p:custDataLst>
          </p:nvPr>
        </p:nvSpPr>
        <p:spPr/>
        <p:txBody>
          <a:bodyPr/>
          <a:lstStyle/>
          <a:p>
            <a:endParaRPr lang="zh-CN" altLang="en-US" dirty="0"/>
          </a:p>
        </p:txBody>
      </p:sp>
      <p:sp>
        <p:nvSpPr>
          <p:cNvPr id="1048678"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104867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643"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1048644"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645"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2026/3/12</a:t>
            </a:fld>
            <a:endParaRPr lang="zh-CN" altLang="en-US"/>
          </a:p>
        </p:txBody>
      </p:sp>
      <p:sp>
        <p:nvSpPr>
          <p:cNvPr id="1048646" name="页脚占位符 4"/>
          <p:cNvSpPr>
            <a:spLocks noGrp="1"/>
          </p:cNvSpPr>
          <p:nvPr>
            <p:ph type="ftr" sz="quarter" idx="11"/>
            <p:custDataLst>
              <p:tags r:id="rId4"/>
            </p:custDataLst>
          </p:nvPr>
        </p:nvSpPr>
        <p:spPr/>
        <p:txBody>
          <a:bodyPr/>
          <a:lstStyle/>
          <a:p>
            <a:endParaRPr lang="zh-CN" altLang="en-US"/>
          </a:p>
        </p:txBody>
      </p:sp>
      <p:sp>
        <p:nvSpPr>
          <p:cNvPr id="1048647"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648"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1048649" name="页脚占位符 3"/>
          <p:cNvSpPr>
            <a:spLocks noGrp="1"/>
          </p:cNvSpPr>
          <p:nvPr>
            <p:ph type="ftr" sz="quarter" idx="11"/>
            <p:custDataLst>
              <p:tags r:id="rId2"/>
            </p:custDataLst>
          </p:nvPr>
        </p:nvSpPr>
        <p:spPr/>
        <p:txBody>
          <a:bodyPr/>
          <a:lstStyle/>
          <a:p>
            <a:endParaRPr lang="zh-CN" altLang="en-US"/>
          </a:p>
        </p:txBody>
      </p:sp>
      <p:sp>
        <p:nvSpPr>
          <p:cNvPr id="1048650"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651"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63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2026/3/12</a:t>
            </a:fld>
            <a:endParaRPr lang="zh-CN" altLang="en-US"/>
          </a:p>
        </p:txBody>
      </p:sp>
      <p:sp>
        <p:nvSpPr>
          <p:cNvPr id="1048634" name="页脚占位符 3"/>
          <p:cNvSpPr>
            <a:spLocks noGrp="1"/>
          </p:cNvSpPr>
          <p:nvPr>
            <p:ph type="ftr" sz="quarter" idx="11"/>
            <p:custDataLst>
              <p:tags r:id="rId2"/>
            </p:custDataLst>
          </p:nvPr>
        </p:nvSpPr>
        <p:spPr/>
        <p:txBody>
          <a:bodyPr/>
          <a:lstStyle/>
          <a:p>
            <a:endParaRPr lang="zh-CN" altLang="en-US"/>
          </a:p>
        </p:txBody>
      </p:sp>
      <p:sp>
        <p:nvSpPr>
          <p:cNvPr id="104863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1048636"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104863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8"/>
          <a:stretch>
            <a:fillRect/>
          </a:stretch>
        </a:blipFill>
        <a:effectLst/>
      </p:bgPr>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1048577"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578"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2026/3/12</a:t>
            </a:fld>
            <a:endParaRPr lang="zh-CN" altLang="en-US"/>
          </a:p>
        </p:txBody>
      </p:sp>
      <p:sp>
        <p:nvSpPr>
          <p:cNvPr id="1048579"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pitchFamily="2" charset="2"/>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comments" Target="../comments/commen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B73430-1F5B-873F-45FA-7EBA5840899D}"/>
              </a:ext>
            </a:extLst>
          </p:cNvPr>
          <p:cNvSpPr>
            <a:spLocks noGrp="1"/>
          </p:cNvSpPr>
          <p:nvPr>
            <p:ph type="title"/>
          </p:nvPr>
        </p:nvSpPr>
        <p:spPr>
          <a:xfrm>
            <a:off x="2939617" y="2482239"/>
            <a:ext cx="10969200" cy="705600"/>
          </a:xfrm>
        </p:spPr>
        <p:txBody>
          <a:bodyPr/>
          <a:lstStyle/>
          <a:p>
            <a:r>
              <a:rPr lang="en-US" altLang="zh-CN" dirty="0"/>
              <a:t>WK13-EAP</a:t>
            </a:r>
            <a:r>
              <a:rPr lang="zh-CN" altLang="en-US" dirty="0"/>
              <a:t>写作期末复习</a:t>
            </a:r>
          </a:p>
        </p:txBody>
      </p:sp>
      <p:sp>
        <p:nvSpPr>
          <p:cNvPr id="3" name="内容占位符 2">
            <a:extLst>
              <a:ext uri="{FF2B5EF4-FFF2-40B4-BE49-F238E27FC236}">
                <a16:creationId xmlns:a16="http://schemas.microsoft.com/office/drawing/2014/main" id="{30EB96C3-92AF-22B8-14FD-215B358A52C0}"/>
              </a:ext>
            </a:extLst>
          </p:cNvPr>
          <p:cNvSpPr>
            <a:spLocks noGrp="1"/>
          </p:cNvSpPr>
          <p:nvPr>
            <p:ph idx="1"/>
          </p:nvPr>
        </p:nvSpPr>
        <p:spPr>
          <a:xfrm>
            <a:off x="8707372" y="4876695"/>
            <a:ext cx="2426202" cy="705600"/>
          </a:xfrm>
        </p:spPr>
        <p:txBody>
          <a:bodyPr/>
          <a:lstStyle/>
          <a:p>
            <a:pPr marL="0" indent="0">
              <a:buNone/>
            </a:pPr>
            <a:endParaRPr lang="zh-CN" altLang="en-US" dirty="0"/>
          </a:p>
        </p:txBody>
      </p:sp>
    </p:spTree>
    <p:extLst>
      <p:ext uri="{BB962C8B-B14F-4D97-AF65-F5344CB8AC3E}">
        <p14:creationId xmlns:p14="http://schemas.microsoft.com/office/powerpoint/2010/main" val="1957305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EA8077-F909-20D8-E100-6E23C981AEF9}"/>
              </a:ext>
            </a:extLst>
          </p:cNvPr>
          <p:cNvSpPr>
            <a:spLocks noGrp="1"/>
          </p:cNvSpPr>
          <p:nvPr>
            <p:ph type="title"/>
          </p:nvPr>
        </p:nvSpPr>
        <p:spPr>
          <a:xfrm>
            <a:off x="608400" y="186368"/>
            <a:ext cx="10969200" cy="705600"/>
          </a:xfrm>
        </p:spPr>
        <p:txBody>
          <a:bodyPr/>
          <a:lstStyle/>
          <a:p>
            <a:r>
              <a:rPr lang="zh-CN" altLang="en-US" dirty="0"/>
              <a:t>讲师介绍</a:t>
            </a:r>
          </a:p>
        </p:txBody>
      </p:sp>
      <p:sp>
        <p:nvSpPr>
          <p:cNvPr id="3" name="内容占位符 2">
            <a:extLst>
              <a:ext uri="{FF2B5EF4-FFF2-40B4-BE49-F238E27FC236}">
                <a16:creationId xmlns:a16="http://schemas.microsoft.com/office/drawing/2014/main" id="{37FE2A3D-419F-DA34-006A-405D4C354EE7}"/>
              </a:ext>
            </a:extLst>
          </p:cNvPr>
          <p:cNvSpPr>
            <a:spLocks noGrp="1"/>
          </p:cNvSpPr>
          <p:nvPr>
            <p:ph idx="1"/>
          </p:nvPr>
        </p:nvSpPr>
        <p:spPr>
          <a:xfrm>
            <a:off x="608400" y="1912432"/>
            <a:ext cx="10969200" cy="4759200"/>
          </a:xfrm>
        </p:spPr>
        <p:txBody>
          <a:bodyPr/>
          <a:lstStyle/>
          <a:p>
            <a:pPr marL="0" indent="0">
              <a:buNone/>
            </a:pPr>
            <a:endParaRPr lang="en-US" altLang="zh-CN" dirty="0"/>
          </a:p>
          <a:p>
            <a:pPr marL="0" indent="0">
              <a:buNone/>
            </a:pPr>
            <a:endParaRPr lang="en-US" altLang="zh-CN" dirty="0"/>
          </a:p>
          <a:p>
            <a:pPr marL="0" indent="0">
              <a:buNone/>
            </a:pPr>
            <a:r>
              <a:rPr lang="zh-CN" altLang="en-US" dirty="0"/>
              <a:t>雅思</a:t>
            </a:r>
            <a:r>
              <a:rPr lang="en-US" altLang="zh-CN" dirty="0"/>
              <a:t>7.5</a:t>
            </a:r>
            <a:endParaRPr lang="zh-CN" altLang="en-US" dirty="0"/>
          </a:p>
        </p:txBody>
      </p:sp>
      <p:pic>
        <p:nvPicPr>
          <p:cNvPr id="5" name="图片 4">
            <a:extLst>
              <a:ext uri="{FF2B5EF4-FFF2-40B4-BE49-F238E27FC236}">
                <a16:creationId xmlns:a16="http://schemas.microsoft.com/office/drawing/2014/main" id="{28C48F85-6438-4ED0-7846-DD56026EA9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6315" y="2377528"/>
            <a:ext cx="4460045" cy="3829007"/>
          </a:xfrm>
          <a:prstGeom prst="rect">
            <a:avLst/>
          </a:prstGeom>
        </p:spPr>
      </p:pic>
      <p:pic>
        <p:nvPicPr>
          <p:cNvPr id="7" name="图片 6">
            <a:extLst>
              <a:ext uri="{FF2B5EF4-FFF2-40B4-BE49-F238E27FC236}">
                <a16:creationId xmlns:a16="http://schemas.microsoft.com/office/drawing/2014/main" id="{C53FB771-9B0F-A931-0DE8-77F347C700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84835" y="1912432"/>
            <a:ext cx="5300543" cy="4544822"/>
          </a:xfrm>
          <a:prstGeom prst="rect">
            <a:avLst/>
          </a:prstGeom>
        </p:spPr>
      </p:pic>
    </p:spTree>
    <p:extLst>
      <p:ext uri="{BB962C8B-B14F-4D97-AF65-F5344CB8AC3E}">
        <p14:creationId xmlns:p14="http://schemas.microsoft.com/office/powerpoint/2010/main" val="36437423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79060D-409F-FB67-91BC-50DF9159268D}"/>
              </a:ext>
            </a:extLst>
          </p:cNvPr>
          <p:cNvSpPr>
            <a:spLocks noGrp="1"/>
          </p:cNvSpPr>
          <p:nvPr>
            <p:ph type="title"/>
          </p:nvPr>
        </p:nvSpPr>
        <p:spPr>
          <a:xfrm>
            <a:off x="608400" y="151200"/>
            <a:ext cx="10969200" cy="705600"/>
          </a:xfrm>
        </p:spPr>
        <p:txBody>
          <a:bodyPr/>
          <a:lstStyle/>
          <a:p>
            <a:endParaRPr lang="zh-CN" altLang="en-US"/>
          </a:p>
        </p:txBody>
      </p:sp>
      <p:pic>
        <p:nvPicPr>
          <p:cNvPr id="7" name="内容占位符 6">
            <a:extLst>
              <a:ext uri="{FF2B5EF4-FFF2-40B4-BE49-F238E27FC236}">
                <a16:creationId xmlns:a16="http://schemas.microsoft.com/office/drawing/2014/main" id="{749390FC-C1E9-F323-7B9A-6628065AB7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4079" y="705600"/>
            <a:ext cx="7897710" cy="6001200"/>
          </a:xfrm>
        </p:spPr>
      </p:pic>
    </p:spTree>
    <p:extLst>
      <p:ext uri="{BB962C8B-B14F-4D97-AF65-F5344CB8AC3E}">
        <p14:creationId xmlns:p14="http://schemas.microsoft.com/office/powerpoint/2010/main" val="3930646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EF884F-16DE-1A35-3070-5CF0E969A894}"/>
              </a:ext>
            </a:extLst>
          </p:cNvPr>
          <p:cNvSpPr>
            <a:spLocks noGrp="1"/>
          </p:cNvSpPr>
          <p:nvPr>
            <p:ph type="title"/>
          </p:nvPr>
        </p:nvSpPr>
        <p:spPr>
          <a:xfrm>
            <a:off x="608400" y="132912"/>
            <a:ext cx="10969200" cy="705600"/>
          </a:xfrm>
        </p:spPr>
        <p:txBody>
          <a:bodyPr/>
          <a:lstStyle/>
          <a:p>
            <a:r>
              <a:rPr lang="zh-CN" altLang="en-US" dirty="0"/>
              <a:t>需要注意的写作学术规范细节</a:t>
            </a:r>
          </a:p>
        </p:txBody>
      </p:sp>
      <p:sp>
        <p:nvSpPr>
          <p:cNvPr id="3" name="内容占位符 2">
            <a:extLst>
              <a:ext uri="{FF2B5EF4-FFF2-40B4-BE49-F238E27FC236}">
                <a16:creationId xmlns:a16="http://schemas.microsoft.com/office/drawing/2014/main" id="{5E535F8B-4754-4691-9973-CF07C5B7C93B}"/>
              </a:ext>
            </a:extLst>
          </p:cNvPr>
          <p:cNvSpPr>
            <a:spLocks noGrp="1"/>
          </p:cNvSpPr>
          <p:nvPr>
            <p:ph idx="1"/>
          </p:nvPr>
        </p:nvSpPr>
        <p:spPr/>
        <p:txBody>
          <a:bodyPr>
            <a:normAutofit/>
          </a:bodyPr>
          <a:lstStyle/>
          <a:p>
            <a:pPr marL="0" indent="0">
              <a:buNone/>
            </a:pPr>
            <a:r>
              <a:rPr lang="en-US" altLang="zh-CN" sz="2400" dirty="0"/>
              <a:t>1.</a:t>
            </a:r>
            <a:r>
              <a:rPr lang="zh-CN" altLang="en-US" sz="2400" dirty="0"/>
              <a:t>不要使用缩写（如</a:t>
            </a:r>
            <a:r>
              <a:rPr lang="en-US" altLang="zh-CN" sz="2400" dirty="0"/>
              <a:t>don’t, can’t, shouldn’t</a:t>
            </a:r>
            <a:r>
              <a:rPr lang="zh-CN" altLang="en-US" sz="2400" dirty="0"/>
              <a:t>等）</a:t>
            </a:r>
            <a:endParaRPr lang="en-US" altLang="zh-CN" sz="2400" dirty="0"/>
          </a:p>
          <a:p>
            <a:pPr marL="0" indent="0">
              <a:buNone/>
            </a:pPr>
            <a:r>
              <a:rPr lang="zh-CN" altLang="en-US" sz="2400" dirty="0"/>
              <a:t>   除所有格和特殊名词外，不允许出现’</a:t>
            </a:r>
            <a:endParaRPr lang="en-US" altLang="zh-CN" sz="2400" dirty="0"/>
          </a:p>
          <a:p>
            <a:pPr marL="0" indent="0">
              <a:buNone/>
            </a:pPr>
            <a:r>
              <a:rPr lang="en-US" altLang="zh-CN" sz="2400" dirty="0"/>
              <a:t>2.</a:t>
            </a:r>
            <a:r>
              <a:rPr lang="zh-CN" altLang="en-US" sz="2400" dirty="0"/>
              <a:t>避免出现主观臆断和不严谨的时间、范围、人群陈述（如 </a:t>
            </a:r>
            <a:r>
              <a:rPr lang="en-US" altLang="zh-CN" sz="2400" dirty="0"/>
              <a:t>People in  China are more focused on academic performance. </a:t>
            </a:r>
            <a:r>
              <a:rPr lang="zh-CN" altLang="en-US" sz="2400" dirty="0"/>
              <a:t>）需要注意描述的准确性</a:t>
            </a:r>
            <a:endParaRPr lang="en-US" altLang="zh-CN" sz="2400" dirty="0"/>
          </a:p>
          <a:p>
            <a:pPr marL="0" indent="0">
              <a:buNone/>
            </a:pPr>
            <a:r>
              <a:rPr lang="en-US" altLang="zh-CN" sz="2400" dirty="0"/>
              <a:t>3.</a:t>
            </a:r>
            <a:r>
              <a:rPr lang="zh-CN" altLang="en-US" sz="2400" dirty="0"/>
              <a:t>论文有两种格式：齐头式或缩进式</a:t>
            </a:r>
            <a:endParaRPr lang="en-US" altLang="zh-CN" sz="2400" dirty="0"/>
          </a:p>
          <a:p>
            <a:pPr marL="0" indent="0">
              <a:buNone/>
            </a:pPr>
            <a:endParaRPr lang="en-US" altLang="zh-CN" sz="2400" dirty="0"/>
          </a:p>
        </p:txBody>
      </p:sp>
    </p:spTree>
    <p:extLst>
      <p:ext uri="{BB962C8B-B14F-4D97-AF65-F5344CB8AC3E}">
        <p14:creationId xmlns:p14="http://schemas.microsoft.com/office/powerpoint/2010/main" val="1271021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2C8102-08B6-3193-3978-BF8F037C3571}"/>
              </a:ext>
            </a:extLst>
          </p:cNvPr>
          <p:cNvSpPr>
            <a:spLocks noGrp="1"/>
          </p:cNvSpPr>
          <p:nvPr>
            <p:ph type="title"/>
          </p:nvPr>
        </p:nvSpPr>
        <p:spPr>
          <a:xfrm>
            <a:off x="608400" y="105983"/>
            <a:ext cx="10969200" cy="705600"/>
          </a:xfrm>
        </p:spPr>
        <p:txBody>
          <a:bodyPr/>
          <a:lstStyle/>
          <a:p>
            <a:r>
              <a:rPr lang="zh-CN" altLang="en-US" dirty="0"/>
              <a:t>需要注意的写作学术规范细节</a:t>
            </a:r>
          </a:p>
        </p:txBody>
      </p:sp>
      <p:sp>
        <p:nvSpPr>
          <p:cNvPr id="3" name="内容占位符 2">
            <a:extLst>
              <a:ext uri="{FF2B5EF4-FFF2-40B4-BE49-F238E27FC236}">
                <a16:creationId xmlns:a16="http://schemas.microsoft.com/office/drawing/2014/main" id="{B2ECCD81-D85F-53A8-C129-42B938598A22}"/>
              </a:ext>
            </a:extLst>
          </p:cNvPr>
          <p:cNvSpPr>
            <a:spLocks noGrp="1"/>
          </p:cNvSpPr>
          <p:nvPr>
            <p:ph idx="1"/>
          </p:nvPr>
        </p:nvSpPr>
        <p:spPr/>
        <p:txBody>
          <a:bodyPr>
            <a:normAutofit fontScale="92500" lnSpcReduction="10000"/>
          </a:bodyPr>
          <a:lstStyle/>
          <a:p>
            <a:pPr marL="0" indent="0">
              <a:buNone/>
            </a:pPr>
            <a:r>
              <a:rPr lang="en-US" altLang="zh-CN" dirty="0"/>
              <a:t>S1 10 academic style rules</a:t>
            </a:r>
          </a:p>
          <a:p>
            <a:pPr marL="342900" indent="-342900">
              <a:buAutoNum type="arabicPeriod"/>
            </a:pPr>
            <a:r>
              <a:rPr lang="en-US" altLang="zh-CN" dirty="0"/>
              <a:t>Do not use informal vocabulary or abbreviations</a:t>
            </a:r>
          </a:p>
          <a:p>
            <a:pPr marL="342900" indent="-342900">
              <a:buAutoNum type="arabicPeriod"/>
            </a:pPr>
            <a:r>
              <a:rPr lang="en-US" altLang="zh-CN" dirty="0"/>
              <a:t>Avoid vague or general terms</a:t>
            </a:r>
          </a:p>
          <a:p>
            <a:pPr marL="342900" indent="-342900">
              <a:buAutoNum type="arabicPeriod"/>
            </a:pPr>
            <a:r>
              <a:rPr lang="en-US" altLang="zh-CN" dirty="0"/>
              <a:t>Do not state your opinion, personal feelings or being subjective</a:t>
            </a:r>
          </a:p>
          <a:p>
            <a:pPr marL="342900" indent="-342900">
              <a:buAutoNum type="arabicPeriod"/>
            </a:pPr>
            <a:r>
              <a:rPr lang="en-US" altLang="zh-CN" dirty="0"/>
              <a:t>Avoid using personal pronouns</a:t>
            </a:r>
          </a:p>
          <a:p>
            <a:pPr marL="342900" indent="-342900">
              <a:buAutoNum type="arabicPeriod"/>
            </a:pPr>
            <a:r>
              <a:rPr lang="en-US" altLang="zh-CN" dirty="0"/>
              <a:t>Do not use contractions </a:t>
            </a:r>
          </a:p>
          <a:p>
            <a:pPr marL="342900" indent="-342900">
              <a:buAutoNum type="arabicPeriod"/>
            </a:pPr>
            <a:r>
              <a:rPr lang="en-US" altLang="zh-CN" dirty="0"/>
              <a:t>Do</a:t>
            </a:r>
            <a:r>
              <a:rPr lang="zh-CN" altLang="en-US" dirty="0"/>
              <a:t> </a:t>
            </a:r>
            <a:r>
              <a:rPr lang="en-US" altLang="zh-CN" dirty="0"/>
              <a:t>not</a:t>
            </a:r>
            <a:r>
              <a:rPr lang="zh-CN" altLang="en-US" dirty="0"/>
              <a:t> </a:t>
            </a:r>
            <a:r>
              <a:rPr lang="en-US" altLang="zh-CN" dirty="0"/>
              <a:t>use</a:t>
            </a:r>
            <a:r>
              <a:rPr lang="zh-CN" altLang="en-US" dirty="0"/>
              <a:t> </a:t>
            </a:r>
            <a:r>
              <a:rPr lang="en-US" altLang="zh-CN" dirty="0"/>
              <a:t>And,</a:t>
            </a:r>
            <a:r>
              <a:rPr lang="zh-CN" altLang="en-US" dirty="0"/>
              <a:t> </a:t>
            </a:r>
            <a:r>
              <a:rPr lang="en-US" altLang="zh-CN" dirty="0"/>
              <a:t>So</a:t>
            </a:r>
            <a:r>
              <a:rPr lang="zh-CN" altLang="en-US" dirty="0"/>
              <a:t> </a:t>
            </a:r>
            <a:r>
              <a:rPr lang="en-US" altLang="zh-CN" dirty="0"/>
              <a:t>or</a:t>
            </a:r>
            <a:r>
              <a:rPr lang="zh-CN" altLang="en-US" dirty="0"/>
              <a:t> </a:t>
            </a:r>
            <a:r>
              <a:rPr lang="en-US" altLang="zh-CN" dirty="0"/>
              <a:t>But</a:t>
            </a:r>
            <a:r>
              <a:rPr lang="zh-CN" altLang="en-US" dirty="0"/>
              <a:t> </a:t>
            </a:r>
            <a:r>
              <a:rPr lang="en-US" altLang="zh-CN" dirty="0"/>
              <a:t>at</a:t>
            </a:r>
            <a:r>
              <a:rPr lang="zh-CN" altLang="en-US" dirty="0"/>
              <a:t> </a:t>
            </a:r>
            <a:r>
              <a:rPr lang="en-US" altLang="zh-CN" dirty="0"/>
              <a:t>the</a:t>
            </a:r>
            <a:r>
              <a:rPr lang="zh-CN" altLang="en-US" dirty="0"/>
              <a:t> </a:t>
            </a:r>
            <a:r>
              <a:rPr lang="en-US" altLang="zh-CN" dirty="0"/>
              <a:t>beginning of a sentence</a:t>
            </a:r>
          </a:p>
          <a:p>
            <a:pPr marL="342900" indent="-342900">
              <a:buAutoNum type="arabicPeriod"/>
            </a:pPr>
            <a:r>
              <a:rPr lang="en-US" altLang="zh-CN" dirty="0"/>
              <a:t>Avoid using strong or absolute statement</a:t>
            </a:r>
          </a:p>
          <a:p>
            <a:pPr marL="342900" indent="-342900">
              <a:buAutoNum type="arabicPeriod"/>
            </a:pPr>
            <a:r>
              <a:rPr lang="en-US" altLang="zh-CN" dirty="0"/>
              <a:t>Do not ask rhetorical questions</a:t>
            </a:r>
          </a:p>
          <a:p>
            <a:pPr marL="342900" indent="-342900">
              <a:buAutoNum type="arabicPeriod"/>
            </a:pPr>
            <a:r>
              <a:rPr lang="en-US" altLang="zh-CN" dirty="0"/>
              <a:t>Do not use proverbs or cliches</a:t>
            </a:r>
          </a:p>
          <a:p>
            <a:pPr marL="342900" indent="-342900">
              <a:buAutoNum type="arabicPeriod"/>
            </a:pPr>
            <a:r>
              <a:rPr lang="en-US" altLang="zh-CN" dirty="0"/>
              <a:t>Do not write integers between 1-9 in paragraphs or in essays.</a:t>
            </a:r>
          </a:p>
        </p:txBody>
      </p:sp>
    </p:spTree>
    <p:extLst>
      <p:ext uri="{BB962C8B-B14F-4D97-AF65-F5344CB8AC3E}">
        <p14:creationId xmlns:p14="http://schemas.microsoft.com/office/powerpoint/2010/main" val="1719819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4FA59B-B850-432B-345C-661841B246D7}"/>
              </a:ext>
            </a:extLst>
          </p:cNvPr>
          <p:cNvSpPr>
            <a:spLocks noGrp="1"/>
          </p:cNvSpPr>
          <p:nvPr>
            <p:ph type="title"/>
          </p:nvPr>
        </p:nvSpPr>
        <p:spPr>
          <a:xfrm>
            <a:off x="608400" y="146176"/>
            <a:ext cx="10969200" cy="705600"/>
          </a:xfrm>
        </p:spPr>
        <p:txBody>
          <a:bodyPr/>
          <a:lstStyle/>
          <a:p>
            <a:r>
              <a:rPr lang="zh-CN" altLang="en-US" dirty="0"/>
              <a:t>题型概述</a:t>
            </a:r>
          </a:p>
        </p:txBody>
      </p:sp>
      <p:sp>
        <p:nvSpPr>
          <p:cNvPr id="3" name="内容占位符 2">
            <a:extLst>
              <a:ext uri="{FF2B5EF4-FFF2-40B4-BE49-F238E27FC236}">
                <a16:creationId xmlns:a16="http://schemas.microsoft.com/office/drawing/2014/main" id="{772ECF9F-2D5F-4CAA-FAD8-E70686D11708}"/>
              </a:ext>
            </a:extLst>
          </p:cNvPr>
          <p:cNvSpPr>
            <a:spLocks noGrp="1"/>
          </p:cNvSpPr>
          <p:nvPr>
            <p:ph idx="1"/>
          </p:nvPr>
        </p:nvSpPr>
        <p:spPr>
          <a:xfrm>
            <a:off x="1217079" y="2437457"/>
            <a:ext cx="10969200" cy="4759200"/>
          </a:xfrm>
        </p:spPr>
        <p:txBody>
          <a:bodyPr>
            <a:normAutofit/>
          </a:bodyPr>
          <a:lstStyle/>
          <a:p>
            <a:pPr marL="0" indent="0">
              <a:buNone/>
            </a:pPr>
            <a:r>
              <a:rPr lang="en-US" altLang="zh-CN" sz="3200" dirty="0"/>
              <a:t>EAP</a:t>
            </a:r>
            <a:r>
              <a:rPr lang="zh-CN" altLang="en-US" sz="3200" dirty="0"/>
              <a:t>期末写作题型：</a:t>
            </a:r>
            <a:endParaRPr lang="en-US" altLang="zh-CN" sz="3200" dirty="0"/>
          </a:p>
          <a:p>
            <a:pPr marL="0" indent="0">
              <a:buNone/>
            </a:pPr>
            <a:r>
              <a:rPr lang="en-US" altLang="zh-CN" sz="3200" dirty="0"/>
              <a:t>To what extent do you agree or disagree…?</a:t>
            </a:r>
          </a:p>
          <a:p>
            <a:pPr marL="0" indent="0">
              <a:buNone/>
            </a:pPr>
            <a:endParaRPr lang="en-US" altLang="zh-CN" sz="3200" dirty="0"/>
          </a:p>
        </p:txBody>
      </p:sp>
    </p:spTree>
    <p:extLst>
      <p:ext uri="{BB962C8B-B14F-4D97-AF65-F5344CB8AC3E}">
        <p14:creationId xmlns:p14="http://schemas.microsoft.com/office/powerpoint/2010/main" val="2128345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34CC9-EDFF-B4FD-55E9-8737F7F8635F}"/>
              </a:ext>
            </a:extLst>
          </p:cNvPr>
          <p:cNvSpPr>
            <a:spLocks noGrp="1"/>
          </p:cNvSpPr>
          <p:nvPr>
            <p:ph type="title"/>
          </p:nvPr>
        </p:nvSpPr>
        <p:spPr>
          <a:xfrm>
            <a:off x="608400" y="111095"/>
            <a:ext cx="10969200" cy="705600"/>
          </a:xfrm>
        </p:spPr>
        <p:txBody>
          <a:bodyPr/>
          <a:lstStyle/>
          <a:p>
            <a:r>
              <a:rPr lang="zh-CN" altLang="en-US" dirty="0"/>
              <a:t>文章结构</a:t>
            </a:r>
          </a:p>
        </p:txBody>
      </p:sp>
      <p:sp>
        <p:nvSpPr>
          <p:cNvPr id="3" name="内容占位符 2">
            <a:extLst>
              <a:ext uri="{FF2B5EF4-FFF2-40B4-BE49-F238E27FC236}">
                <a16:creationId xmlns:a16="http://schemas.microsoft.com/office/drawing/2014/main" id="{95461057-4097-92C8-6844-6CD8D1B3900E}"/>
              </a:ext>
            </a:extLst>
          </p:cNvPr>
          <p:cNvSpPr>
            <a:spLocks noGrp="1"/>
          </p:cNvSpPr>
          <p:nvPr>
            <p:ph idx="1"/>
          </p:nvPr>
        </p:nvSpPr>
        <p:spPr>
          <a:xfrm>
            <a:off x="608400" y="1145495"/>
            <a:ext cx="10969200" cy="4759200"/>
          </a:xfrm>
        </p:spPr>
        <p:txBody>
          <a:bodyPr/>
          <a:lstStyle/>
          <a:p>
            <a:pPr marL="0" indent="0">
              <a:buNone/>
            </a:pPr>
            <a:r>
              <a:rPr lang="en-US" altLang="zh-CN" dirty="0"/>
              <a:t>Structure recap:</a:t>
            </a:r>
          </a:p>
          <a:p>
            <a:pPr marL="0" indent="0">
              <a:buNone/>
            </a:pPr>
            <a:r>
              <a:rPr lang="en-US" altLang="zh-CN" dirty="0"/>
              <a:t>Introduction(Paragraph 1): Background ---  Bridge ---  Thesis statement</a:t>
            </a:r>
          </a:p>
          <a:p>
            <a:pPr marL="0" indent="0">
              <a:buNone/>
            </a:pPr>
            <a:endParaRPr lang="en-US" altLang="zh-CN" dirty="0"/>
          </a:p>
          <a:p>
            <a:pPr marL="0" indent="0">
              <a:buNone/>
            </a:pPr>
            <a:r>
              <a:rPr lang="en-US" altLang="zh-CN" dirty="0"/>
              <a:t>BP: Controlling idea ---  supporting details</a:t>
            </a:r>
          </a:p>
          <a:p>
            <a:pPr marL="0" indent="0">
              <a:buNone/>
            </a:pPr>
            <a:endParaRPr lang="en-US" altLang="zh-CN" dirty="0"/>
          </a:p>
          <a:p>
            <a:pPr marL="0" indent="0">
              <a:buNone/>
            </a:pPr>
            <a:r>
              <a:rPr lang="en-US" altLang="zh-CN" dirty="0"/>
              <a:t>Conclusion(Last paragraph): Thesis restatement, summary, recommendation</a:t>
            </a:r>
            <a:endParaRPr lang="zh-CN" altLang="en-US" dirty="0"/>
          </a:p>
        </p:txBody>
      </p:sp>
    </p:spTree>
    <p:extLst>
      <p:ext uri="{BB962C8B-B14F-4D97-AF65-F5344CB8AC3E}">
        <p14:creationId xmlns:p14="http://schemas.microsoft.com/office/powerpoint/2010/main" val="3271280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CDBF3E-439E-FFAE-57A4-D36DB25E91B4}"/>
              </a:ext>
            </a:extLst>
          </p:cNvPr>
          <p:cNvSpPr>
            <a:spLocks noGrp="1"/>
          </p:cNvSpPr>
          <p:nvPr>
            <p:ph type="title"/>
          </p:nvPr>
        </p:nvSpPr>
        <p:spPr>
          <a:xfrm>
            <a:off x="608400" y="95053"/>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EA00B34C-3E38-44FD-E937-D7B1450CAB0E}"/>
              </a:ext>
            </a:extLst>
          </p:cNvPr>
          <p:cNvSpPr>
            <a:spLocks noGrp="1"/>
          </p:cNvSpPr>
          <p:nvPr>
            <p:ph idx="1"/>
          </p:nvPr>
        </p:nvSpPr>
        <p:spPr>
          <a:xfrm>
            <a:off x="800906" y="2669495"/>
            <a:ext cx="10969200" cy="4759200"/>
          </a:xfrm>
        </p:spPr>
        <p:txBody>
          <a:bodyPr>
            <a:normAutofit/>
          </a:bodyPr>
          <a:lstStyle/>
          <a:p>
            <a:pPr marL="0" indent="0">
              <a:buNone/>
            </a:pPr>
            <a:r>
              <a:rPr lang="en-US" altLang="zh-CN" sz="3200" dirty="0"/>
              <a:t>Topic: Student should be allowed to use generative AI to do assignments. To what extent do you agree?</a:t>
            </a:r>
            <a:endParaRPr lang="zh-CN" altLang="en-US" sz="3200" dirty="0"/>
          </a:p>
        </p:txBody>
      </p:sp>
    </p:spTree>
    <p:extLst>
      <p:ext uri="{BB962C8B-B14F-4D97-AF65-F5344CB8AC3E}">
        <p14:creationId xmlns:p14="http://schemas.microsoft.com/office/powerpoint/2010/main" val="328265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4F7D68-0E8A-8A27-7015-A29DF46EF127}"/>
              </a:ext>
            </a:extLst>
          </p:cNvPr>
          <p:cNvSpPr>
            <a:spLocks noGrp="1"/>
          </p:cNvSpPr>
          <p:nvPr>
            <p:ph type="title"/>
          </p:nvPr>
        </p:nvSpPr>
        <p:spPr>
          <a:xfrm>
            <a:off x="608400" y="143179"/>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0D009A3B-69B5-62A3-4BF6-7C2728EF9DF6}"/>
              </a:ext>
            </a:extLst>
          </p:cNvPr>
          <p:cNvSpPr>
            <a:spLocks noGrp="1"/>
          </p:cNvSpPr>
          <p:nvPr>
            <p:ph idx="1"/>
          </p:nvPr>
        </p:nvSpPr>
        <p:spPr/>
        <p:txBody>
          <a:bodyPr/>
          <a:lstStyle/>
          <a:p>
            <a:pPr marL="0" indent="0">
              <a:buNone/>
            </a:pPr>
            <a:r>
              <a:rPr lang="en-US" altLang="zh-CN" dirty="0">
                <a:solidFill>
                  <a:schemeClr val="accent1"/>
                </a:solidFill>
              </a:rPr>
              <a:t>In recent years</a:t>
            </a:r>
            <a:r>
              <a:rPr lang="en-US" altLang="zh-CN" dirty="0">
                <a:solidFill>
                  <a:schemeClr val="tx1"/>
                </a:solidFill>
              </a:rPr>
              <a:t>, artificial intelligence(AI) has become an important tool for students. For example, generative AI tools such as ChatGPT or </a:t>
            </a:r>
            <a:r>
              <a:rPr lang="en-US" altLang="zh-CN" dirty="0" err="1">
                <a:solidFill>
                  <a:schemeClr val="tx1"/>
                </a:solidFill>
              </a:rPr>
              <a:t>XipuAI</a:t>
            </a:r>
            <a:r>
              <a:rPr lang="en-US" altLang="zh-CN" dirty="0">
                <a:solidFill>
                  <a:schemeClr val="tx1"/>
                </a:solidFill>
              </a:rPr>
              <a:t> have the ability to complete tasks for students, such as writing essays or solving math problems. </a:t>
            </a:r>
            <a:r>
              <a:rPr lang="en-US" altLang="zh-CN" dirty="0">
                <a:solidFill>
                  <a:schemeClr val="accent1"/>
                </a:solidFill>
              </a:rPr>
              <a:t>While </a:t>
            </a:r>
            <a:r>
              <a:rPr lang="en-US" altLang="zh-CN" dirty="0">
                <a:solidFill>
                  <a:schemeClr val="tx1"/>
                </a:solidFill>
              </a:rPr>
              <a:t>some educators assert that AI will help students learn more effectively, </a:t>
            </a:r>
            <a:r>
              <a:rPr lang="en-US" altLang="zh-CN" dirty="0">
                <a:solidFill>
                  <a:schemeClr val="accent1"/>
                </a:solidFill>
              </a:rPr>
              <a:t>many disagree</a:t>
            </a:r>
            <a:r>
              <a:rPr lang="en-US" altLang="zh-CN" dirty="0">
                <a:solidFill>
                  <a:schemeClr val="tx1"/>
                </a:solidFill>
              </a:rPr>
              <a:t>. </a:t>
            </a:r>
            <a:r>
              <a:rPr lang="en-US" altLang="zh-CN" dirty="0">
                <a:solidFill>
                  <a:srgbClr val="FF0000"/>
                </a:solidFill>
              </a:rPr>
              <a:t>This essay will argue that students should not use generative AI complete assignments because this could diminish learning and prevent them from learning about responsibility.</a:t>
            </a:r>
          </a:p>
          <a:p>
            <a:pPr marL="0" indent="0">
              <a:buNone/>
            </a:pPr>
            <a:endParaRPr lang="en-US" altLang="zh-CN" dirty="0">
              <a:solidFill>
                <a:schemeClr val="accent4"/>
              </a:solidFill>
            </a:endParaRPr>
          </a:p>
          <a:p>
            <a:pPr marL="0" indent="0">
              <a:buNone/>
            </a:pPr>
            <a:r>
              <a:rPr lang="zh-CN" altLang="en-US" dirty="0"/>
              <a:t>首段结构：交代背景</a:t>
            </a:r>
            <a:r>
              <a:rPr lang="en-US" altLang="zh-CN" dirty="0"/>
              <a:t>---paraphrase----</a:t>
            </a:r>
            <a:r>
              <a:rPr lang="zh-CN" altLang="en-US" dirty="0"/>
              <a:t>顺承</a:t>
            </a:r>
            <a:r>
              <a:rPr lang="en-US" altLang="zh-CN" dirty="0"/>
              <a:t>----</a:t>
            </a:r>
            <a:r>
              <a:rPr lang="zh-CN" altLang="en-US" dirty="0"/>
              <a:t>中心论点</a:t>
            </a: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1625486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F95D9F-19E7-BF01-7083-807DF5A31511}"/>
              </a:ext>
            </a:extLst>
          </p:cNvPr>
          <p:cNvSpPr>
            <a:spLocks noGrp="1"/>
          </p:cNvSpPr>
          <p:nvPr>
            <p:ph type="title"/>
          </p:nvPr>
        </p:nvSpPr>
        <p:spPr>
          <a:xfrm>
            <a:off x="608400" y="127137"/>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322C4B77-1934-E235-4975-113EE244C1DA}"/>
              </a:ext>
            </a:extLst>
          </p:cNvPr>
          <p:cNvSpPr>
            <a:spLocks noGrp="1"/>
          </p:cNvSpPr>
          <p:nvPr>
            <p:ph idx="1"/>
          </p:nvPr>
        </p:nvSpPr>
        <p:spPr>
          <a:xfrm>
            <a:off x="608400" y="1153516"/>
            <a:ext cx="10969200" cy="4759200"/>
          </a:xfrm>
        </p:spPr>
        <p:txBody>
          <a:bodyPr/>
          <a:lstStyle/>
          <a:p>
            <a:pPr marL="0" indent="0">
              <a:buNone/>
            </a:pPr>
            <a:r>
              <a:rPr lang="en-US" altLang="zh-CN" dirty="0">
                <a:solidFill>
                  <a:srgbClr val="FF0000"/>
                </a:solidFill>
              </a:rPr>
              <a:t>One reason </a:t>
            </a:r>
            <a:r>
              <a:rPr lang="en-US" altLang="zh-CN" dirty="0"/>
              <a:t>students should not use generative AI is that this may decrease their ability to learn</a:t>
            </a:r>
            <a:r>
              <a:rPr lang="en-US" altLang="zh-CN" dirty="0">
                <a:solidFill>
                  <a:schemeClr val="tx1"/>
                </a:solidFill>
              </a:rPr>
              <a:t>.</a:t>
            </a:r>
            <a:r>
              <a:rPr lang="en-US" altLang="zh-CN" dirty="0">
                <a:solidFill>
                  <a:srgbClr val="FF0000"/>
                </a:solidFill>
              </a:rPr>
              <a:t> First of all</a:t>
            </a:r>
            <a:r>
              <a:rPr lang="en-US" altLang="zh-CN" dirty="0"/>
              <a:t>, it can reduce their ability to learn how to solve problems. For example, math students are often asked to prove Pythagorean Theorem using formulas they already know. This type of practice problem gives pupils valuable experience and prepares them to solve real problems in the future. However, if a student use AI to get the answer, they are skipping  an important learning step which will enable them to handle such challenges in the future.</a:t>
            </a:r>
          </a:p>
          <a:p>
            <a:pPr marL="0" indent="0">
              <a:buNone/>
            </a:pPr>
            <a:endParaRPr lang="en-US" altLang="zh-CN" dirty="0"/>
          </a:p>
          <a:p>
            <a:pPr marL="0" indent="0">
              <a:buNone/>
            </a:pPr>
            <a:r>
              <a:rPr lang="en-US" altLang="zh-CN" dirty="0"/>
              <a:t>BP1</a:t>
            </a:r>
            <a:r>
              <a:rPr lang="zh-CN" altLang="en-US" dirty="0"/>
              <a:t>：第一个分论点</a:t>
            </a:r>
            <a:r>
              <a:rPr lang="en-US" altLang="zh-CN" dirty="0"/>
              <a:t> --- </a:t>
            </a:r>
            <a:r>
              <a:rPr lang="zh-CN" altLang="en-US" dirty="0"/>
              <a:t>举例论证</a:t>
            </a:r>
            <a:r>
              <a:rPr lang="en-US" altLang="zh-CN" dirty="0"/>
              <a:t> ---  </a:t>
            </a:r>
            <a:r>
              <a:rPr lang="zh-CN" altLang="en-US" dirty="0"/>
              <a:t>道理论证</a:t>
            </a:r>
          </a:p>
        </p:txBody>
      </p:sp>
    </p:spTree>
    <p:extLst>
      <p:ext uri="{BB962C8B-B14F-4D97-AF65-F5344CB8AC3E}">
        <p14:creationId xmlns:p14="http://schemas.microsoft.com/office/powerpoint/2010/main" val="9729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747367-A82B-A1AF-CA27-528CA2F18D5E}"/>
              </a:ext>
            </a:extLst>
          </p:cNvPr>
          <p:cNvSpPr>
            <a:spLocks noGrp="1"/>
          </p:cNvSpPr>
          <p:nvPr>
            <p:ph type="title"/>
          </p:nvPr>
        </p:nvSpPr>
        <p:spPr>
          <a:xfrm>
            <a:off x="608400" y="159221"/>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BE376CB0-ECC8-D200-3571-0C21746F8D50}"/>
              </a:ext>
            </a:extLst>
          </p:cNvPr>
          <p:cNvSpPr>
            <a:spLocks noGrp="1"/>
          </p:cNvSpPr>
          <p:nvPr>
            <p:ph idx="1"/>
          </p:nvPr>
        </p:nvSpPr>
        <p:spPr>
          <a:xfrm>
            <a:off x="608400" y="1145495"/>
            <a:ext cx="10969200" cy="4759200"/>
          </a:xfrm>
        </p:spPr>
        <p:txBody>
          <a:bodyPr/>
          <a:lstStyle/>
          <a:p>
            <a:pPr marL="0" indent="0">
              <a:buNone/>
            </a:pPr>
            <a:r>
              <a:rPr lang="en-US" altLang="zh-CN" dirty="0">
                <a:solidFill>
                  <a:srgbClr val="FF0000"/>
                </a:solidFill>
              </a:rPr>
              <a:t>Secondly</a:t>
            </a:r>
            <a:r>
              <a:rPr lang="en-US" altLang="zh-CN" dirty="0"/>
              <a:t>, it will reduce their creative development. For instance, university students learn how to write essays arguing for or against a certain topic. Producing a well-written essay requires creative skills such as formulating logical arguments and selecting the appropriate language to express these ideas. However, if students use an AI tool write an essay, they will not develop their creative expression.</a:t>
            </a:r>
          </a:p>
          <a:p>
            <a:pPr marL="0" indent="0">
              <a:buNone/>
            </a:pPr>
            <a:endParaRPr lang="en-US" altLang="zh-CN" dirty="0"/>
          </a:p>
          <a:p>
            <a:pPr marL="0" indent="0">
              <a:buNone/>
            </a:pPr>
            <a:r>
              <a:rPr lang="en-US" altLang="zh-CN" dirty="0"/>
              <a:t>First of all/Secondly </a:t>
            </a:r>
            <a:r>
              <a:rPr lang="zh-CN" altLang="en-US" dirty="0"/>
              <a:t>使文章逻辑更有条理</a:t>
            </a: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3914220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A66297-A07C-8EE5-3F6A-98D49A69ABB9}"/>
              </a:ext>
            </a:extLst>
          </p:cNvPr>
          <p:cNvSpPr>
            <a:spLocks noGrp="1"/>
          </p:cNvSpPr>
          <p:nvPr>
            <p:ph type="title"/>
          </p:nvPr>
        </p:nvSpPr>
        <p:spPr>
          <a:xfrm>
            <a:off x="608400" y="127137"/>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5FA940D7-B025-7CC1-1EC7-C0E9CB6F6067}"/>
              </a:ext>
            </a:extLst>
          </p:cNvPr>
          <p:cNvSpPr>
            <a:spLocks noGrp="1"/>
          </p:cNvSpPr>
          <p:nvPr>
            <p:ph idx="1"/>
          </p:nvPr>
        </p:nvSpPr>
        <p:spPr/>
        <p:txBody>
          <a:bodyPr/>
          <a:lstStyle/>
          <a:p>
            <a:pPr marL="0" indent="0">
              <a:buNone/>
            </a:pPr>
            <a:r>
              <a:rPr lang="en-US" altLang="zh-CN" dirty="0"/>
              <a:t>Another reason why students should not use generative AI is that this might prevent from learning how to handle responsibilities. Apart from teaching knowledge, schools also help students learn how to balance responsibilities by assigning tasks and projects with deadlines. For instance, Year1 EAP students were asked to write a group proposal, which involved coordinating multiple tasks and meeting key deadlines.</a:t>
            </a:r>
          </a:p>
          <a:p>
            <a:pPr marL="0" indent="0">
              <a:buNone/>
            </a:pPr>
            <a:endParaRPr lang="en-US" altLang="zh-CN" dirty="0"/>
          </a:p>
          <a:p>
            <a:pPr marL="0" indent="0">
              <a:buNone/>
            </a:pPr>
            <a:r>
              <a:rPr lang="en-US" altLang="zh-CN" dirty="0"/>
              <a:t>BP2</a:t>
            </a:r>
            <a:r>
              <a:rPr lang="zh-CN" altLang="en-US" dirty="0"/>
              <a:t>： 举例恰当</a:t>
            </a:r>
          </a:p>
        </p:txBody>
      </p:sp>
    </p:spTree>
    <p:extLst>
      <p:ext uri="{BB962C8B-B14F-4D97-AF65-F5344CB8AC3E}">
        <p14:creationId xmlns:p14="http://schemas.microsoft.com/office/powerpoint/2010/main" val="150629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359D92-B3E6-CC01-CD83-0DB730C6CF20}"/>
              </a:ext>
            </a:extLst>
          </p:cNvPr>
          <p:cNvSpPr>
            <a:spLocks noGrp="1"/>
          </p:cNvSpPr>
          <p:nvPr>
            <p:ph type="title"/>
          </p:nvPr>
        </p:nvSpPr>
        <p:spPr>
          <a:xfrm>
            <a:off x="608400" y="119116"/>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8C151C13-C585-4CE9-66E7-119738C4D70A}"/>
              </a:ext>
            </a:extLst>
          </p:cNvPr>
          <p:cNvSpPr>
            <a:spLocks noGrp="1"/>
          </p:cNvSpPr>
          <p:nvPr>
            <p:ph idx="1"/>
          </p:nvPr>
        </p:nvSpPr>
        <p:spPr/>
        <p:txBody>
          <a:bodyPr/>
          <a:lstStyle/>
          <a:p>
            <a:pPr marL="0" indent="0">
              <a:buNone/>
            </a:pPr>
            <a:r>
              <a:rPr lang="en-US" altLang="zh-CN" dirty="0"/>
              <a:t>However, if students simply used an AI tool to complete this proposal, they would not learn how to manage and prioritize these tasks. This is particularly true of students who are not intrinsically motivated. These are students who only study to achieve high scores or attain a degree, instead of viewing their education as a way to improve themselves. Such students might rely on AI because it can do much of the work for them, but they will not develop a sense of responsibility.</a:t>
            </a:r>
          </a:p>
          <a:p>
            <a:pPr marL="0" indent="0">
              <a:buNone/>
            </a:pPr>
            <a:endParaRPr lang="en-US" altLang="zh-CN" dirty="0"/>
          </a:p>
          <a:p>
            <a:pPr marL="0" indent="0">
              <a:buNone/>
            </a:pPr>
            <a:r>
              <a:rPr lang="en-US" altLang="zh-CN" dirty="0"/>
              <a:t>BP2</a:t>
            </a:r>
            <a:r>
              <a:rPr lang="zh-CN" altLang="en-US" dirty="0"/>
              <a:t>：对象明确</a:t>
            </a:r>
            <a:endParaRPr lang="en-US" altLang="zh-CN" dirty="0"/>
          </a:p>
          <a:p>
            <a:pPr marL="0" indent="0">
              <a:buNone/>
            </a:pPr>
            <a:endParaRPr lang="zh-CN" altLang="en-US" dirty="0"/>
          </a:p>
        </p:txBody>
      </p:sp>
    </p:spTree>
    <p:extLst>
      <p:ext uri="{BB962C8B-B14F-4D97-AF65-F5344CB8AC3E}">
        <p14:creationId xmlns:p14="http://schemas.microsoft.com/office/powerpoint/2010/main" val="2684438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0441CE-FC81-8BB0-1C2F-DA45CEA94AAA}"/>
              </a:ext>
            </a:extLst>
          </p:cNvPr>
          <p:cNvSpPr>
            <a:spLocks noGrp="1"/>
          </p:cNvSpPr>
          <p:nvPr>
            <p:ph type="title"/>
          </p:nvPr>
        </p:nvSpPr>
        <p:spPr>
          <a:xfrm>
            <a:off x="608400" y="103074"/>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16A59E25-3FC7-569A-9FCF-FE89431DD7EA}"/>
              </a:ext>
            </a:extLst>
          </p:cNvPr>
          <p:cNvSpPr>
            <a:spLocks noGrp="1"/>
          </p:cNvSpPr>
          <p:nvPr>
            <p:ph idx="1"/>
          </p:nvPr>
        </p:nvSpPr>
        <p:spPr/>
        <p:txBody>
          <a:bodyPr/>
          <a:lstStyle/>
          <a:p>
            <a:pPr marL="0" indent="0">
              <a:buNone/>
            </a:pPr>
            <a:r>
              <a:rPr lang="en-US" altLang="zh-CN" dirty="0"/>
              <a:t>In conclusion, this essay has argued that students should not use generative AI to complete assignments. </a:t>
            </a:r>
            <a:r>
              <a:rPr lang="en-US" altLang="zh-CN" dirty="0">
                <a:solidFill>
                  <a:schemeClr val="tx1"/>
                </a:solidFill>
              </a:rPr>
              <a:t>Not only can the use of AI reduce their capability to learn, but it might limit the development of responsibility. </a:t>
            </a:r>
            <a:r>
              <a:rPr lang="en-US" altLang="zh-CN" dirty="0">
                <a:solidFill>
                  <a:srgbClr val="FF0000"/>
                </a:solidFill>
              </a:rPr>
              <a:t>Therefore, universities should educate students on the downsides of relying on AI and closely monitor students to ensure that they are truly receiving an education that can help them develop key skills they will need in the future.</a:t>
            </a:r>
          </a:p>
          <a:p>
            <a:pPr marL="0" indent="0">
              <a:buNone/>
            </a:pPr>
            <a:endParaRPr lang="en-US" altLang="zh-CN" dirty="0"/>
          </a:p>
          <a:p>
            <a:pPr marL="0" indent="0">
              <a:buNone/>
            </a:pPr>
            <a:r>
              <a:rPr lang="zh-CN" altLang="en-US" dirty="0"/>
              <a:t>末段：重申中心论点（</a:t>
            </a:r>
            <a:r>
              <a:rPr lang="en-US" altLang="zh-CN" dirty="0"/>
              <a:t>paraphrase</a:t>
            </a:r>
            <a:r>
              <a:rPr lang="zh-CN" altLang="en-US" dirty="0"/>
              <a:t>）</a:t>
            </a:r>
            <a:r>
              <a:rPr lang="en-US" altLang="zh-CN" dirty="0"/>
              <a:t>----</a:t>
            </a:r>
            <a:r>
              <a:rPr lang="zh-CN" altLang="en-US" dirty="0"/>
              <a:t> 提出解决方案</a:t>
            </a:r>
            <a:r>
              <a:rPr lang="en-US" altLang="zh-CN" dirty="0"/>
              <a:t>/</a:t>
            </a:r>
            <a:r>
              <a:rPr lang="zh-CN" altLang="en-US" dirty="0"/>
              <a:t>建议</a:t>
            </a:r>
          </a:p>
        </p:txBody>
      </p:sp>
    </p:spTree>
    <p:extLst>
      <p:ext uri="{BB962C8B-B14F-4D97-AF65-F5344CB8AC3E}">
        <p14:creationId xmlns:p14="http://schemas.microsoft.com/office/powerpoint/2010/main" val="1964476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12ACAE-F01A-A08D-ED1A-DDAE737D5A33}"/>
              </a:ext>
            </a:extLst>
          </p:cNvPr>
          <p:cNvSpPr>
            <a:spLocks noGrp="1"/>
          </p:cNvSpPr>
          <p:nvPr>
            <p:ph type="title"/>
          </p:nvPr>
        </p:nvSpPr>
        <p:spPr>
          <a:xfrm>
            <a:off x="608400" y="146304"/>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CDC32734-D233-6D84-0892-0A426F66BF44}"/>
              </a:ext>
            </a:extLst>
          </p:cNvPr>
          <p:cNvSpPr>
            <a:spLocks noGrp="1"/>
          </p:cNvSpPr>
          <p:nvPr>
            <p:ph idx="1"/>
          </p:nvPr>
        </p:nvSpPr>
        <p:spPr>
          <a:xfrm>
            <a:off x="608400" y="2234112"/>
            <a:ext cx="10969200" cy="4759200"/>
          </a:xfrm>
        </p:spPr>
        <p:txBody>
          <a:bodyPr>
            <a:normAutofit/>
          </a:bodyPr>
          <a:lstStyle/>
          <a:p>
            <a:pPr marL="0" indent="0">
              <a:buNone/>
            </a:pPr>
            <a:r>
              <a:rPr lang="en-US" altLang="zh-CN" sz="2400" dirty="0"/>
              <a:t>Please discuss the advantages and disadvantages of extreme sports.</a:t>
            </a:r>
          </a:p>
          <a:p>
            <a:pPr marL="0" indent="0">
              <a:buNone/>
            </a:pPr>
            <a:endParaRPr lang="zh-CN" altLang="en-US" sz="2400" dirty="0"/>
          </a:p>
        </p:txBody>
      </p:sp>
    </p:spTree>
    <p:extLst>
      <p:ext uri="{BB962C8B-B14F-4D97-AF65-F5344CB8AC3E}">
        <p14:creationId xmlns:p14="http://schemas.microsoft.com/office/powerpoint/2010/main" val="2737763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5D7674-9ABE-D7EA-1FB5-2C55EAC759DD}"/>
              </a:ext>
            </a:extLst>
          </p:cNvPr>
          <p:cNvSpPr>
            <a:spLocks noGrp="1"/>
          </p:cNvSpPr>
          <p:nvPr>
            <p:ph type="title"/>
          </p:nvPr>
        </p:nvSpPr>
        <p:spPr>
          <a:xfrm>
            <a:off x="608400" y="166272"/>
            <a:ext cx="10969200" cy="705600"/>
          </a:xfrm>
        </p:spPr>
        <p:txBody>
          <a:bodyPr/>
          <a:lstStyle/>
          <a:p>
            <a:r>
              <a:rPr lang="zh-CN" altLang="en-US" dirty="0"/>
              <a:t>范文精析</a:t>
            </a:r>
          </a:p>
        </p:txBody>
      </p:sp>
      <p:pic>
        <p:nvPicPr>
          <p:cNvPr id="5" name="内容占位符 4">
            <a:extLst>
              <a:ext uri="{FF2B5EF4-FFF2-40B4-BE49-F238E27FC236}">
                <a16:creationId xmlns:a16="http://schemas.microsoft.com/office/drawing/2014/main" id="{2813E0F9-D53F-618C-3F60-F9026FCC8DF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1510" y="837555"/>
            <a:ext cx="5074824" cy="6020445"/>
          </a:xfrm>
        </p:spPr>
      </p:pic>
    </p:spTree>
    <p:extLst>
      <p:ext uri="{BB962C8B-B14F-4D97-AF65-F5344CB8AC3E}">
        <p14:creationId xmlns:p14="http://schemas.microsoft.com/office/powerpoint/2010/main" val="478684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46C411-ED9D-1C1D-6D11-8009F4D1DA88}"/>
              </a:ext>
            </a:extLst>
          </p:cNvPr>
          <p:cNvSpPr>
            <a:spLocks noGrp="1"/>
          </p:cNvSpPr>
          <p:nvPr>
            <p:ph type="title"/>
          </p:nvPr>
        </p:nvSpPr>
        <p:spPr>
          <a:xfrm>
            <a:off x="608400" y="132912"/>
            <a:ext cx="10969200" cy="705600"/>
          </a:xfrm>
        </p:spPr>
        <p:txBody>
          <a:bodyPr/>
          <a:lstStyle/>
          <a:p>
            <a:r>
              <a:rPr lang="zh-CN" altLang="en-US" dirty="0"/>
              <a:t>范文精析</a:t>
            </a:r>
          </a:p>
        </p:txBody>
      </p:sp>
      <p:sp>
        <p:nvSpPr>
          <p:cNvPr id="7" name="内容占位符 6">
            <a:extLst>
              <a:ext uri="{FF2B5EF4-FFF2-40B4-BE49-F238E27FC236}">
                <a16:creationId xmlns:a16="http://schemas.microsoft.com/office/drawing/2014/main" id="{3F424376-B4F8-633D-8DCA-15238C7FA49F}"/>
              </a:ext>
            </a:extLst>
          </p:cNvPr>
          <p:cNvSpPr>
            <a:spLocks noGrp="1"/>
          </p:cNvSpPr>
          <p:nvPr>
            <p:ph idx="1"/>
          </p:nvPr>
        </p:nvSpPr>
        <p:spPr/>
        <p:txBody>
          <a:bodyPr/>
          <a:lstStyle/>
          <a:p>
            <a:pPr marL="0" indent="0">
              <a:buNone/>
            </a:pPr>
            <a:r>
              <a:rPr lang="zh-CN" altLang="en-US" dirty="0"/>
              <a:t>首段：</a:t>
            </a:r>
            <a:endParaRPr lang="en-US" altLang="zh-CN" dirty="0"/>
          </a:p>
          <a:p>
            <a:pPr marL="0" indent="0">
              <a:buNone/>
            </a:pPr>
            <a:r>
              <a:rPr lang="en-US" altLang="zh-CN" dirty="0"/>
              <a:t>Such is human nature to explore the unknown. A trend is that numerous people are keen on embarking on challenging sports events such as mountain biking, rock climbing or scuba diving, especially among those dynamic adults. </a:t>
            </a:r>
          </a:p>
          <a:p>
            <a:pPr marL="0" indent="0">
              <a:buNone/>
            </a:pPr>
            <a:endParaRPr lang="en-US" altLang="zh-CN" dirty="0"/>
          </a:p>
          <a:p>
            <a:pPr marL="0" indent="0">
              <a:buNone/>
            </a:pPr>
            <a:r>
              <a:rPr lang="zh-CN" altLang="en-US" dirty="0"/>
              <a:t>分析：以社会现象作为背景，切入话题。</a:t>
            </a:r>
            <a:endParaRPr lang="en-US" altLang="zh-CN" dirty="0"/>
          </a:p>
          <a:p>
            <a:pPr marL="0" indent="0">
              <a:buNone/>
            </a:pPr>
            <a:r>
              <a:rPr lang="en-US" altLang="zh-CN" dirty="0"/>
              <a:t>         </a:t>
            </a:r>
            <a:r>
              <a:rPr lang="zh-CN" altLang="en-US" dirty="0"/>
              <a:t>明确受众，锁定范围</a:t>
            </a:r>
            <a:r>
              <a:rPr lang="en-US" altLang="zh-CN" dirty="0"/>
              <a:t>(dynamic adults and youngsters)</a:t>
            </a:r>
          </a:p>
          <a:p>
            <a:pPr marL="0" indent="0">
              <a:buNone/>
            </a:pPr>
            <a:r>
              <a:rPr lang="en-US" altLang="zh-CN" dirty="0"/>
              <a:t>         </a:t>
            </a:r>
            <a:r>
              <a:rPr lang="zh-CN" altLang="en-US" dirty="0"/>
              <a:t>使用严谨、具有说服力的语言（</a:t>
            </a:r>
            <a:r>
              <a:rPr lang="en-US" altLang="zh-CN" dirty="0"/>
              <a:t>A trend</a:t>
            </a:r>
            <a:r>
              <a:rPr lang="zh-CN" altLang="en-US" dirty="0"/>
              <a:t>）</a:t>
            </a:r>
            <a:endParaRPr lang="en-US" altLang="zh-CN" dirty="0"/>
          </a:p>
        </p:txBody>
      </p:sp>
    </p:spTree>
    <p:extLst>
      <p:ext uri="{BB962C8B-B14F-4D97-AF65-F5344CB8AC3E}">
        <p14:creationId xmlns:p14="http://schemas.microsoft.com/office/powerpoint/2010/main" val="997881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BC351-F91C-614F-DA49-4F6D68D167F9}"/>
              </a:ext>
            </a:extLst>
          </p:cNvPr>
          <p:cNvSpPr>
            <a:spLocks noGrp="1"/>
          </p:cNvSpPr>
          <p:nvPr>
            <p:ph type="title"/>
          </p:nvPr>
        </p:nvSpPr>
        <p:spPr>
          <a:xfrm>
            <a:off x="608400" y="132912"/>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0210BB64-9258-9A79-982A-71A8ABDE8D25}"/>
              </a:ext>
            </a:extLst>
          </p:cNvPr>
          <p:cNvSpPr>
            <a:spLocks noGrp="1"/>
          </p:cNvSpPr>
          <p:nvPr>
            <p:ph idx="1"/>
          </p:nvPr>
        </p:nvSpPr>
        <p:spPr/>
        <p:txBody>
          <a:bodyPr/>
          <a:lstStyle/>
          <a:p>
            <a:pPr marL="0" indent="0">
              <a:buNone/>
            </a:pPr>
            <a:r>
              <a:rPr lang="zh-CN" altLang="en-US" dirty="0"/>
              <a:t>首段：</a:t>
            </a:r>
            <a:endParaRPr lang="en-US" altLang="zh-CN" dirty="0"/>
          </a:p>
          <a:p>
            <a:pPr marL="0" indent="0">
              <a:buNone/>
            </a:pPr>
            <a:r>
              <a:rPr lang="en-US" altLang="zh-CN" dirty="0"/>
              <a:t>Such is human nature to explore the unknown. A trend is that numerous people are keen on embarking on challenging sports events such as mountain biking, rock climbing or scuba diving, especially among those dynamic adults. </a:t>
            </a:r>
          </a:p>
          <a:p>
            <a:pPr marL="0" indent="0">
              <a:buNone/>
            </a:pPr>
            <a:endParaRPr lang="en-US" altLang="zh-CN" dirty="0"/>
          </a:p>
          <a:p>
            <a:pPr marL="0" indent="0">
              <a:buNone/>
            </a:pPr>
            <a:r>
              <a:rPr lang="en-US" altLang="zh-CN" dirty="0"/>
              <a:t>***</a:t>
            </a:r>
            <a:r>
              <a:rPr lang="zh-CN" altLang="en-US" dirty="0"/>
              <a:t>分析：另一种广为人知的开头方式是通过调换语序、改变词汇和说法的形式重新表达一遍题意</a:t>
            </a:r>
            <a:endParaRPr lang="en-US" altLang="zh-CN" dirty="0"/>
          </a:p>
          <a:p>
            <a:pPr marL="0" indent="0">
              <a:buNone/>
            </a:pPr>
            <a:r>
              <a:rPr lang="en-US" altLang="zh-CN" dirty="0"/>
              <a:t>             </a:t>
            </a:r>
            <a:r>
              <a:rPr lang="zh-CN" altLang="en-US" dirty="0"/>
              <a:t>（</a:t>
            </a:r>
            <a:r>
              <a:rPr lang="en-US" altLang="zh-CN" dirty="0"/>
              <a:t>paraphrasing</a:t>
            </a:r>
            <a:r>
              <a:rPr lang="zh-CN" altLang="en-US" dirty="0"/>
              <a:t>）。（建议在</a:t>
            </a:r>
            <a:r>
              <a:rPr lang="en-US" altLang="zh-CN" dirty="0"/>
              <a:t>EAP</a:t>
            </a:r>
            <a:r>
              <a:rPr lang="zh-CN" altLang="en-US" dirty="0"/>
              <a:t>写作中用这种方式）</a:t>
            </a:r>
          </a:p>
        </p:txBody>
      </p:sp>
    </p:spTree>
    <p:extLst>
      <p:ext uri="{BB962C8B-B14F-4D97-AF65-F5344CB8AC3E}">
        <p14:creationId xmlns:p14="http://schemas.microsoft.com/office/powerpoint/2010/main" val="3099265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25AF95-EF2B-7300-1BCD-A5F3853D76C5}"/>
              </a:ext>
            </a:extLst>
          </p:cNvPr>
          <p:cNvSpPr>
            <a:spLocks noGrp="1"/>
          </p:cNvSpPr>
          <p:nvPr>
            <p:ph type="title"/>
          </p:nvPr>
        </p:nvSpPr>
        <p:spPr>
          <a:xfrm>
            <a:off x="608400" y="145104"/>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2FE96AA3-103C-5746-3887-11905480D9ED}"/>
              </a:ext>
            </a:extLst>
          </p:cNvPr>
          <p:cNvSpPr>
            <a:spLocks noGrp="1"/>
          </p:cNvSpPr>
          <p:nvPr>
            <p:ph idx="1"/>
          </p:nvPr>
        </p:nvSpPr>
        <p:spPr/>
        <p:txBody>
          <a:bodyPr/>
          <a:lstStyle/>
          <a:p>
            <a:pPr marL="0" indent="0">
              <a:buNone/>
            </a:pPr>
            <a:r>
              <a:rPr lang="zh-CN" altLang="en-US" dirty="0"/>
              <a:t>首段：</a:t>
            </a:r>
            <a:endParaRPr lang="en-US" altLang="zh-CN" dirty="0"/>
          </a:p>
          <a:p>
            <a:pPr marL="0" indent="0">
              <a:buNone/>
            </a:pPr>
            <a:r>
              <a:rPr lang="en-US" altLang="zh-CN" dirty="0"/>
              <a:t>The essay mainly focuses on pursuing excitement and sense of refreshment in the dull routine daily life. After all, life without risk is no life at all.</a:t>
            </a:r>
          </a:p>
          <a:p>
            <a:pPr marL="0" indent="0">
              <a:buNone/>
            </a:pPr>
            <a:endParaRPr lang="en-US" altLang="zh-CN" dirty="0"/>
          </a:p>
          <a:p>
            <a:pPr marL="0" indent="0">
              <a:buNone/>
            </a:pPr>
            <a:r>
              <a:rPr lang="zh-CN" altLang="en-US" dirty="0"/>
              <a:t>分析：明确自身中心论点</a:t>
            </a:r>
            <a:endParaRPr lang="en-US" altLang="zh-CN" dirty="0"/>
          </a:p>
          <a:p>
            <a:pPr marL="0" indent="0">
              <a:buNone/>
            </a:pPr>
            <a:r>
              <a:rPr lang="en-US" altLang="zh-CN" dirty="0"/>
              <a:t>         *</a:t>
            </a:r>
            <a:r>
              <a:rPr lang="zh-CN" altLang="en-US" dirty="0"/>
              <a:t>本篇论文没有在中心论点和背景之间加入论点顺承，但建议将其加入格式范式并根据具体情</a:t>
            </a:r>
            <a:endParaRPr lang="en-US" altLang="zh-CN" dirty="0"/>
          </a:p>
          <a:p>
            <a:pPr marL="0" indent="0">
              <a:buNone/>
            </a:pPr>
            <a:r>
              <a:rPr lang="en-US" altLang="zh-CN" dirty="0"/>
              <a:t>         </a:t>
            </a:r>
            <a:r>
              <a:rPr lang="zh-CN" altLang="en-US" dirty="0"/>
              <a:t>况选择是否需要</a:t>
            </a:r>
            <a:endParaRPr lang="en-US" altLang="zh-CN" dirty="0"/>
          </a:p>
          <a:p>
            <a:pPr marL="0" indent="0">
              <a:buNone/>
            </a:pPr>
            <a:r>
              <a:rPr lang="en-US" altLang="zh-CN" dirty="0"/>
              <a:t>         </a:t>
            </a:r>
            <a:r>
              <a:rPr lang="zh-CN" altLang="en-US" dirty="0"/>
              <a:t>论点顺承</a:t>
            </a:r>
            <a:r>
              <a:rPr lang="en-US" altLang="zh-CN" dirty="0"/>
              <a:t>(bridge)</a:t>
            </a:r>
            <a:r>
              <a:rPr lang="zh-CN" altLang="en-US" dirty="0"/>
              <a:t>参考格式</a:t>
            </a:r>
            <a:r>
              <a:rPr lang="en-US" altLang="zh-CN" dirty="0"/>
              <a:t>: The proponents/some would believe/argue,</a:t>
            </a:r>
          </a:p>
          <a:p>
            <a:pPr marL="0" indent="0">
              <a:buNone/>
            </a:pPr>
            <a:r>
              <a:rPr lang="en-US" altLang="zh-CN" dirty="0"/>
              <a:t>                                   whilst/while others/the dissenters tend to agree/believe</a:t>
            </a:r>
            <a:endParaRPr lang="zh-CN" altLang="en-US" dirty="0"/>
          </a:p>
        </p:txBody>
      </p:sp>
    </p:spTree>
    <p:extLst>
      <p:ext uri="{BB962C8B-B14F-4D97-AF65-F5344CB8AC3E}">
        <p14:creationId xmlns:p14="http://schemas.microsoft.com/office/powerpoint/2010/main" val="4032518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076C68-511D-3A1A-B519-E2B8CB941C40}"/>
              </a:ext>
            </a:extLst>
          </p:cNvPr>
          <p:cNvSpPr>
            <a:spLocks noGrp="1"/>
          </p:cNvSpPr>
          <p:nvPr>
            <p:ph type="title"/>
          </p:nvPr>
        </p:nvSpPr>
        <p:spPr>
          <a:xfrm>
            <a:off x="608400" y="126079"/>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0C498C94-9A88-206F-666A-22EFACE707BE}"/>
              </a:ext>
            </a:extLst>
          </p:cNvPr>
          <p:cNvSpPr>
            <a:spLocks noGrp="1"/>
          </p:cNvSpPr>
          <p:nvPr>
            <p:ph idx="1"/>
          </p:nvPr>
        </p:nvSpPr>
        <p:spPr>
          <a:xfrm>
            <a:off x="759125" y="1752785"/>
            <a:ext cx="10969200" cy="4759200"/>
          </a:xfrm>
        </p:spPr>
        <p:txBody>
          <a:bodyPr/>
          <a:lstStyle/>
          <a:p>
            <a:pPr marL="0" indent="0">
              <a:buNone/>
            </a:pPr>
            <a:r>
              <a:rPr lang="zh-CN" altLang="en-US" sz="4800" dirty="0"/>
              <a:t>首段结构总结：</a:t>
            </a:r>
            <a:endParaRPr lang="en-US" altLang="zh-CN" sz="4800" dirty="0"/>
          </a:p>
          <a:p>
            <a:pPr marL="0" indent="0">
              <a:buNone/>
            </a:pPr>
            <a:r>
              <a:rPr lang="zh-CN" altLang="en-US" sz="4000" dirty="0"/>
              <a:t>背景（社会，个人）引入并明确受众</a:t>
            </a:r>
            <a:r>
              <a:rPr lang="en-US" altLang="zh-CN" sz="4000" dirty="0"/>
              <a:t>----</a:t>
            </a:r>
            <a:r>
              <a:rPr lang="zh-CN" altLang="en-US" sz="4000" dirty="0"/>
              <a:t>双边观点（论点顺承）</a:t>
            </a:r>
            <a:r>
              <a:rPr lang="en-US" altLang="zh-CN" sz="4000" dirty="0"/>
              <a:t>---- </a:t>
            </a:r>
            <a:r>
              <a:rPr lang="zh-CN" altLang="en-US" sz="4000" dirty="0"/>
              <a:t>中心论点</a:t>
            </a:r>
          </a:p>
        </p:txBody>
      </p:sp>
    </p:spTree>
    <p:extLst>
      <p:ext uri="{BB962C8B-B14F-4D97-AF65-F5344CB8AC3E}">
        <p14:creationId xmlns:p14="http://schemas.microsoft.com/office/powerpoint/2010/main" val="2687141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B993DF-80AC-16B0-06C4-BEEDE6703E5C}"/>
              </a:ext>
            </a:extLst>
          </p:cNvPr>
          <p:cNvSpPr>
            <a:spLocks noGrp="1"/>
          </p:cNvSpPr>
          <p:nvPr>
            <p:ph type="title"/>
          </p:nvPr>
        </p:nvSpPr>
        <p:spPr>
          <a:xfrm>
            <a:off x="608400" y="255600"/>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EE450A68-3F9D-216F-1C62-3A493DFCAD11}"/>
              </a:ext>
            </a:extLst>
          </p:cNvPr>
          <p:cNvSpPr>
            <a:spLocks noGrp="1"/>
          </p:cNvSpPr>
          <p:nvPr>
            <p:ph idx="1"/>
          </p:nvPr>
        </p:nvSpPr>
        <p:spPr>
          <a:xfrm>
            <a:off x="608400" y="1188949"/>
            <a:ext cx="10969200" cy="4759200"/>
          </a:xfrm>
        </p:spPr>
        <p:txBody>
          <a:bodyPr/>
          <a:lstStyle/>
          <a:p>
            <a:pPr marL="0" indent="0">
              <a:buNone/>
            </a:pPr>
            <a:r>
              <a:rPr lang="en-US" altLang="zh-CN" dirty="0"/>
              <a:t>Body paragraph 1:Granted, many virtues could be gained via undertaking those risky sports activities.</a:t>
            </a:r>
          </a:p>
          <a:p>
            <a:pPr marL="0" indent="0">
              <a:buNone/>
            </a:pPr>
            <a:endParaRPr lang="en-US" altLang="zh-CN" dirty="0"/>
          </a:p>
          <a:p>
            <a:pPr marL="0" indent="0">
              <a:buNone/>
            </a:pPr>
            <a:r>
              <a:rPr lang="zh-CN" altLang="en-US" dirty="0"/>
              <a:t>分析：以本文为例，在第一个主体段的第一句写“这样做有很多好处”有两个作用和好处。</a:t>
            </a:r>
            <a:endParaRPr lang="en-US" altLang="zh-CN" dirty="0"/>
          </a:p>
          <a:p>
            <a:pPr marL="0" indent="0">
              <a:buNone/>
            </a:pPr>
            <a:r>
              <a:rPr lang="en-US" altLang="zh-CN" dirty="0"/>
              <a:t>         1.</a:t>
            </a:r>
            <a:r>
              <a:rPr lang="zh-CN" altLang="en-US" dirty="0"/>
              <a:t>构思时间短，你也没想好到底有哪几个好处，先占着位置再说。</a:t>
            </a:r>
            <a:endParaRPr lang="en-US" altLang="zh-CN" dirty="0"/>
          </a:p>
          <a:p>
            <a:pPr marL="0" indent="0">
              <a:buNone/>
            </a:pPr>
            <a:r>
              <a:rPr lang="en-US" altLang="zh-CN" dirty="0"/>
              <a:t>         2.</a:t>
            </a:r>
            <a:r>
              <a:rPr lang="zh-CN" altLang="en-US" dirty="0"/>
              <a:t>你想好了有哪几个好处，但是你的词汇量不足以支撑你在主体段论点，主体段的论述部分</a:t>
            </a:r>
            <a:endParaRPr lang="en-US" altLang="zh-CN" dirty="0"/>
          </a:p>
          <a:p>
            <a:pPr marL="0" indent="0">
              <a:buNone/>
            </a:pPr>
            <a:r>
              <a:rPr lang="en-US" altLang="zh-CN" dirty="0"/>
              <a:t>         </a:t>
            </a:r>
            <a:r>
              <a:rPr lang="zh-CN" altLang="en-US" dirty="0"/>
              <a:t>和总结段</a:t>
            </a:r>
            <a:r>
              <a:rPr lang="en-US" altLang="zh-CN" dirty="0"/>
              <a:t>paraphrase</a:t>
            </a:r>
            <a:r>
              <a:rPr lang="zh-CN" altLang="en-US" dirty="0"/>
              <a:t>三次。同时，这样会显得文章冗长，信息密度极低。</a:t>
            </a:r>
            <a:endParaRPr lang="en-US" altLang="zh-CN" dirty="0"/>
          </a:p>
          <a:p>
            <a:pPr marL="0" indent="0">
              <a:buNone/>
            </a:pPr>
            <a:r>
              <a:rPr lang="en-US" altLang="zh-CN" dirty="0"/>
              <a:t>         </a:t>
            </a:r>
          </a:p>
          <a:p>
            <a:pPr marL="0" indent="0">
              <a:buNone/>
            </a:pPr>
            <a:endParaRPr lang="zh-CN" altLang="en-US" dirty="0"/>
          </a:p>
        </p:txBody>
      </p:sp>
    </p:spTree>
    <p:extLst>
      <p:ext uri="{BB962C8B-B14F-4D97-AF65-F5344CB8AC3E}">
        <p14:creationId xmlns:p14="http://schemas.microsoft.com/office/powerpoint/2010/main" val="35483740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FEA4C1-3C45-3974-5831-BD5A46863B9E}"/>
              </a:ext>
            </a:extLst>
          </p:cNvPr>
          <p:cNvSpPr>
            <a:spLocks noGrp="1"/>
          </p:cNvSpPr>
          <p:nvPr>
            <p:ph type="title"/>
          </p:nvPr>
        </p:nvSpPr>
        <p:spPr>
          <a:xfrm>
            <a:off x="608400" y="169488"/>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E40FE9D3-9550-7265-7322-C35234A28A56}"/>
              </a:ext>
            </a:extLst>
          </p:cNvPr>
          <p:cNvSpPr>
            <a:spLocks noGrp="1"/>
          </p:cNvSpPr>
          <p:nvPr>
            <p:ph idx="1"/>
          </p:nvPr>
        </p:nvSpPr>
        <p:spPr/>
        <p:txBody>
          <a:bodyPr/>
          <a:lstStyle/>
          <a:p>
            <a:pPr marL="0" indent="0">
              <a:buNone/>
            </a:pPr>
            <a:r>
              <a:rPr lang="en-US" altLang="zh-CN" dirty="0"/>
              <a:t>Body paragraph 1: </a:t>
            </a:r>
            <a:r>
              <a:rPr lang="en-US" altLang="zh-CN" dirty="0">
                <a:solidFill>
                  <a:srgbClr val="FF0000"/>
                </a:solidFill>
              </a:rPr>
              <a:t>Primarily</a:t>
            </a:r>
            <a:r>
              <a:rPr lang="en-US" altLang="zh-CN" dirty="0"/>
              <a:t>, the extreme adventures can be taken as an effective way to help players relieve their pressure and vent their negative emotions, for the occupied modern life often deprive one’s right of seeking relaxation.</a:t>
            </a:r>
          </a:p>
          <a:p>
            <a:pPr marL="0" indent="0">
              <a:buNone/>
            </a:pPr>
            <a:endParaRPr lang="en-US" altLang="zh-CN" dirty="0"/>
          </a:p>
          <a:p>
            <a:pPr marL="0" indent="0">
              <a:buNone/>
            </a:pPr>
            <a:r>
              <a:rPr lang="zh-CN" altLang="en-US" dirty="0"/>
              <a:t>分析：抛出第一个好处，值得注意的是，连接词（</a:t>
            </a:r>
            <a:r>
              <a:rPr lang="en-US" altLang="zh-CN" dirty="0"/>
              <a:t>conjectural devices</a:t>
            </a:r>
            <a:r>
              <a:rPr lang="zh-CN" altLang="en-US" dirty="0"/>
              <a:t>）应不落窠臼</a:t>
            </a:r>
            <a:endParaRPr lang="en-US" altLang="zh-CN" dirty="0"/>
          </a:p>
          <a:p>
            <a:pPr marL="0" indent="0">
              <a:buNone/>
            </a:pPr>
            <a:r>
              <a:rPr lang="en-US" altLang="zh-CN" dirty="0"/>
              <a:t>         </a:t>
            </a:r>
            <a:r>
              <a:rPr lang="zh-CN" altLang="en-US" dirty="0"/>
              <a:t>此后连接的是一段道理论证。逻辑的严密性和解释的清晰性在论证过程中尤为重要</a:t>
            </a:r>
            <a:endParaRPr lang="en-US" altLang="zh-CN" dirty="0"/>
          </a:p>
        </p:txBody>
      </p:sp>
    </p:spTree>
    <p:extLst>
      <p:ext uri="{BB962C8B-B14F-4D97-AF65-F5344CB8AC3E}">
        <p14:creationId xmlns:p14="http://schemas.microsoft.com/office/powerpoint/2010/main" val="1267414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4F34A-C732-8FDC-2ABB-E832E240BC90}"/>
              </a:ext>
            </a:extLst>
          </p:cNvPr>
          <p:cNvSpPr>
            <a:spLocks noGrp="1"/>
          </p:cNvSpPr>
          <p:nvPr>
            <p:ph type="title"/>
          </p:nvPr>
        </p:nvSpPr>
        <p:spPr>
          <a:xfrm>
            <a:off x="608400" y="95935"/>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45360ADE-806E-3D09-9B26-2A78D9B9D801}"/>
              </a:ext>
            </a:extLst>
          </p:cNvPr>
          <p:cNvSpPr>
            <a:spLocks noGrp="1"/>
          </p:cNvSpPr>
          <p:nvPr>
            <p:ph idx="1"/>
          </p:nvPr>
        </p:nvSpPr>
        <p:spPr/>
        <p:txBody>
          <a:bodyPr/>
          <a:lstStyle/>
          <a:p>
            <a:pPr marL="0" indent="0">
              <a:buNone/>
            </a:pPr>
            <a:r>
              <a:rPr lang="en-US" altLang="zh-CN" dirty="0"/>
              <a:t>Body paragraph 1:The popularity of bungee jumping accounts for risky sports’ significant function in terms of reducing stress. </a:t>
            </a:r>
            <a:r>
              <a:rPr lang="en-US" altLang="zh-CN" dirty="0">
                <a:solidFill>
                  <a:srgbClr val="FF0000"/>
                </a:solidFill>
              </a:rPr>
              <a:t>Imaginably</a:t>
            </a:r>
            <a:r>
              <a:rPr lang="en-US" altLang="zh-CN" dirty="0"/>
              <a:t>, one’s working efficiency could be highly enhanced after doing his or her favorite sports events</a:t>
            </a:r>
          </a:p>
          <a:p>
            <a:pPr marL="0" indent="0">
              <a:buNone/>
            </a:pPr>
            <a:endParaRPr lang="en-US" altLang="zh-CN" dirty="0"/>
          </a:p>
          <a:p>
            <a:pPr marL="0" indent="0">
              <a:buNone/>
            </a:pPr>
            <a:r>
              <a:rPr lang="zh-CN" altLang="en-US" dirty="0"/>
              <a:t>分析：此处举例论证。在主体段论证时应恰当加入</a:t>
            </a:r>
            <a:r>
              <a:rPr lang="en-US" altLang="zh-CN" dirty="0"/>
              <a:t>1-2</a:t>
            </a:r>
            <a:r>
              <a:rPr lang="zh-CN" altLang="en-US" dirty="0"/>
              <a:t>个例子，篇幅不宜太长。需要再次强调的是</a:t>
            </a:r>
            <a:endParaRPr lang="en-US" altLang="zh-CN" dirty="0"/>
          </a:p>
          <a:p>
            <a:pPr marL="0" indent="0">
              <a:buNone/>
            </a:pPr>
            <a:r>
              <a:rPr lang="en-US" altLang="zh-CN" dirty="0"/>
              <a:t>         </a:t>
            </a:r>
            <a:r>
              <a:rPr lang="zh-CN" altLang="en-US" dirty="0"/>
              <a:t>这个语段中的连接词同样适用地恰到好处，使行文连接顺畅。</a:t>
            </a:r>
            <a:endParaRPr lang="en-US" altLang="zh-CN" dirty="0"/>
          </a:p>
          <a:p>
            <a:pPr marL="0" indent="0">
              <a:buNone/>
            </a:pPr>
            <a:r>
              <a:rPr lang="en-US" altLang="zh-CN" dirty="0"/>
              <a:t>         ***</a:t>
            </a:r>
            <a:r>
              <a:rPr lang="zh-CN" altLang="en-US" dirty="0"/>
              <a:t>“</a:t>
            </a:r>
            <a:r>
              <a:rPr lang="en-US" altLang="zh-CN" dirty="0"/>
              <a:t>could be highly enhanced</a:t>
            </a:r>
            <a:r>
              <a:rPr lang="zh-CN" altLang="en-US" dirty="0"/>
              <a:t>”为被动语态。在</a:t>
            </a:r>
            <a:r>
              <a:rPr lang="en-US" altLang="zh-CN" dirty="0"/>
              <a:t>essay</a:t>
            </a:r>
            <a:r>
              <a:rPr lang="zh-CN" altLang="en-US" dirty="0"/>
              <a:t>中应将被动语态的优先级放在较</a:t>
            </a:r>
            <a:endParaRPr lang="en-US" altLang="zh-CN" dirty="0"/>
          </a:p>
          <a:p>
            <a:pPr marL="0" indent="0">
              <a:buNone/>
            </a:pPr>
            <a:r>
              <a:rPr lang="en-US" altLang="zh-CN" dirty="0"/>
              <a:t>         </a:t>
            </a:r>
            <a:r>
              <a:rPr lang="zh-CN" altLang="en-US" dirty="0"/>
              <a:t>高位置。这是由语态的先天优劣势决定的，主动语态给人武断、主观的感觉，而被动语态</a:t>
            </a:r>
            <a:endParaRPr lang="en-US" altLang="zh-CN" dirty="0"/>
          </a:p>
          <a:p>
            <a:pPr marL="0" indent="0">
              <a:buNone/>
            </a:pPr>
            <a:r>
              <a:rPr lang="en-US" altLang="zh-CN" dirty="0"/>
              <a:t>         </a:t>
            </a:r>
            <a:r>
              <a:rPr lang="zh-CN" altLang="en-US" dirty="0"/>
              <a:t>先天具有客观、严谨的色彩。</a:t>
            </a:r>
            <a:endParaRPr lang="en-US" altLang="zh-CN" dirty="0"/>
          </a:p>
        </p:txBody>
      </p:sp>
    </p:spTree>
    <p:extLst>
      <p:ext uri="{BB962C8B-B14F-4D97-AF65-F5344CB8AC3E}">
        <p14:creationId xmlns:p14="http://schemas.microsoft.com/office/powerpoint/2010/main" val="13558291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7C7BF-2FBC-6C48-B8C9-4B391A33F5F6}"/>
              </a:ext>
            </a:extLst>
          </p:cNvPr>
          <p:cNvSpPr>
            <a:spLocks noGrp="1"/>
          </p:cNvSpPr>
          <p:nvPr>
            <p:ph type="title"/>
          </p:nvPr>
        </p:nvSpPr>
        <p:spPr>
          <a:xfrm>
            <a:off x="608400" y="95935"/>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47BF1B51-AB4F-A019-0032-62242D00D8FD}"/>
              </a:ext>
            </a:extLst>
          </p:cNvPr>
          <p:cNvSpPr>
            <a:spLocks noGrp="1"/>
          </p:cNvSpPr>
          <p:nvPr>
            <p:ph idx="1"/>
          </p:nvPr>
        </p:nvSpPr>
        <p:spPr/>
        <p:txBody>
          <a:bodyPr/>
          <a:lstStyle/>
          <a:p>
            <a:pPr marL="0" indent="0">
              <a:buNone/>
            </a:pPr>
            <a:r>
              <a:rPr lang="en-US" altLang="zh-CN" dirty="0"/>
              <a:t>Body paragraph 2</a:t>
            </a:r>
            <a:r>
              <a:rPr lang="zh-CN" altLang="en-US" dirty="0"/>
              <a:t>：</a:t>
            </a:r>
            <a:r>
              <a:rPr lang="en-US" altLang="zh-CN" dirty="0">
                <a:solidFill>
                  <a:srgbClr val="FF0000"/>
                </a:solidFill>
              </a:rPr>
              <a:t>Moreover</a:t>
            </a:r>
            <a:r>
              <a:rPr lang="en-US" altLang="zh-CN" dirty="0"/>
              <a:t>, not only can the extreme adventures exert wholesome impacts, but it also could foster one’s skills, chasten one’s tenacity and forge one’s frustration toleration.</a:t>
            </a:r>
          </a:p>
          <a:p>
            <a:pPr marL="0" indent="0">
              <a:buNone/>
            </a:pPr>
            <a:endParaRPr lang="en-US" altLang="zh-CN" dirty="0"/>
          </a:p>
          <a:p>
            <a:pPr marL="0" indent="0">
              <a:buNone/>
            </a:pPr>
            <a:r>
              <a:rPr lang="zh-CN" altLang="en-US" dirty="0"/>
              <a:t>分析：第二个分论点的阐述。</a:t>
            </a:r>
            <a:endParaRPr lang="en-US" altLang="zh-CN" dirty="0"/>
          </a:p>
          <a:p>
            <a:pPr marL="0" indent="0">
              <a:buNone/>
            </a:pPr>
            <a:r>
              <a:rPr lang="en-US" altLang="zh-CN" dirty="0"/>
              <a:t>         </a:t>
            </a:r>
            <a:r>
              <a:rPr lang="zh-CN" altLang="en-US" dirty="0"/>
              <a:t>使用</a:t>
            </a:r>
            <a:r>
              <a:rPr lang="en-US" altLang="zh-CN" dirty="0"/>
              <a:t>not only…but also…</a:t>
            </a:r>
            <a:r>
              <a:rPr lang="zh-CN" altLang="en-US" dirty="0"/>
              <a:t>这类关系词时，应对语法正确性有较高把握，在不确定语法</a:t>
            </a:r>
            <a:endParaRPr lang="en-US" altLang="zh-CN" dirty="0"/>
          </a:p>
          <a:p>
            <a:pPr marL="0" indent="0">
              <a:buNone/>
            </a:pPr>
            <a:r>
              <a:rPr lang="en-US" altLang="zh-CN" dirty="0"/>
              <a:t>         </a:t>
            </a:r>
            <a:r>
              <a:rPr lang="zh-CN" altLang="en-US" dirty="0"/>
              <a:t>正确与否的情况下贸然使用得不偿失</a:t>
            </a:r>
            <a:endParaRPr lang="en-US" altLang="zh-CN" dirty="0"/>
          </a:p>
          <a:p>
            <a:pPr marL="0" indent="0">
              <a:buNone/>
            </a:pPr>
            <a:r>
              <a:rPr lang="en-US" altLang="zh-CN" dirty="0"/>
              <a:t>         *foster, chasten, tenacity, forge</a:t>
            </a:r>
            <a:r>
              <a:rPr lang="zh-CN" altLang="en-US" dirty="0"/>
              <a:t> 是一些值得记忆的单词</a:t>
            </a:r>
            <a:endParaRPr lang="en-US" altLang="zh-CN" dirty="0"/>
          </a:p>
        </p:txBody>
      </p:sp>
    </p:spTree>
    <p:extLst>
      <p:ext uri="{BB962C8B-B14F-4D97-AF65-F5344CB8AC3E}">
        <p14:creationId xmlns:p14="http://schemas.microsoft.com/office/powerpoint/2010/main" val="1428270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DA91A5-0BC1-BE17-3C7B-8C490EDB571D}"/>
              </a:ext>
            </a:extLst>
          </p:cNvPr>
          <p:cNvSpPr>
            <a:spLocks noGrp="1"/>
          </p:cNvSpPr>
          <p:nvPr>
            <p:ph type="title"/>
          </p:nvPr>
        </p:nvSpPr>
        <p:spPr>
          <a:xfrm>
            <a:off x="608400" y="116031"/>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BD8BAA36-3C3B-EA65-975F-9E62D30777C3}"/>
              </a:ext>
            </a:extLst>
          </p:cNvPr>
          <p:cNvSpPr>
            <a:spLocks noGrp="1"/>
          </p:cNvSpPr>
          <p:nvPr>
            <p:ph idx="1"/>
          </p:nvPr>
        </p:nvSpPr>
        <p:spPr>
          <a:xfrm>
            <a:off x="608400" y="1209046"/>
            <a:ext cx="10969200" cy="4759200"/>
          </a:xfrm>
        </p:spPr>
        <p:txBody>
          <a:bodyPr/>
          <a:lstStyle/>
          <a:p>
            <a:pPr marL="0" indent="0">
              <a:buNone/>
            </a:pPr>
            <a:r>
              <a:rPr lang="en-US" altLang="zh-CN" dirty="0"/>
              <a:t>Body paragraph 2</a:t>
            </a:r>
            <a:r>
              <a:rPr lang="zh-CN" altLang="en-US" dirty="0"/>
              <a:t>：</a:t>
            </a:r>
            <a:r>
              <a:rPr lang="en-US" altLang="zh-CN" dirty="0"/>
              <a:t>Some extreme adventures, </a:t>
            </a:r>
            <a:r>
              <a:rPr lang="en-US" altLang="zh-CN" dirty="0">
                <a:solidFill>
                  <a:srgbClr val="FF0000"/>
                </a:solidFill>
              </a:rPr>
              <a:t>such as </a:t>
            </a:r>
            <a:r>
              <a:rPr lang="en-US" altLang="zh-CN" dirty="0"/>
              <a:t>rock climbing and surfing, require high techniques or much stamina.</a:t>
            </a:r>
          </a:p>
          <a:p>
            <a:pPr marL="0" indent="0">
              <a:buNone/>
            </a:pPr>
            <a:endParaRPr lang="en-US" altLang="zh-CN" dirty="0"/>
          </a:p>
          <a:p>
            <a:pPr marL="0" indent="0">
              <a:buNone/>
            </a:pPr>
            <a:r>
              <a:rPr lang="zh-CN" altLang="en-US" dirty="0"/>
              <a:t>分析：举例不需要完整的句子进行较长篇幅的阐述，也可以用少量单词和短语进行蜻蜓点水的</a:t>
            </a:r>
            <a:endParaRPr lang="en-US" altLang="zh-CN" dirty="0"/>
          </a:p>
          <a:p>
            <a:pPr marL="0" indent="0">
              <a:buNone/>
            </a:pPr>
            <a:r>
              <a:rPr lang="en-US" altLang="zh-CN" dirty="0"/>
              <a:t>         </a:t>
            </a:r>
            <a:r>
              <a:rPr lang="zh-CN" altLang="en-US" dirty="0"/>
              <a:t>佐证。</a:t>
            </a:r>
          </a:p>
        </p:txBody>
      </p:sp>
    </p:spTree>
    <p:extLst>
      <p:ext uri="{BB962C8B-B14F-4D97-AF65-F5344CB8AC3E}">
        <p14:creationId xmlns:p14="http://schemas.microsoft.com/office/powerpoint/2010/main" val="33296502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425E16-471A-84F6-0D39-19F589970A60}"/>
              </a:ext>
            </a:extLst>
          </p:cNvPr>
          <p:cNvSpPr>
            <a:spLocks noGrp="1"/>
          </p:cNvSpPr>
          <p:nvPr>
            <p:ph type="title"/>
          </p:nvPr>
        </p:nvSpPr>
        <p:spPr>
          <a:xfrm>
            <a:off x="608400" y="120720"/>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74D69F4E-2834-CF8E-A7F1-18B8E0CAACFD}"/>
              </a:ext>
            </a:extLst>
          </p:cNvPr>
          <p:cNvSpPr>
            <a:spLocks noGrp="1"/>
          </p:cNvSpPr>
          <p:nvPr>
            <p:ph idx="1"/>
          </p:nvPr>
        </p:nvSpPr>
        <p:spPr/>
        <p:txBody>
          <a:bodyPr/>
          <a:lstStyle/>
          <a:p>
            <a:pPr marL="0" indent="0">
              <a:buNone/>
            </a:pPr>
            <a:r>
              <a:rPr lang="en-US" altLang="zh-CN" dirty="0"/>
              <a:t>Body paragraph 2</a:t>
            </a:r>
            <a:r>
              <a:rPr lang="zh-CN" altLang="en-US" dirty="0"/>
              <a:t>：</a:t>
            </a:r>
            <a:r>
              <a:rPr lang="en-US" altLang="zh-CN" dirty="0">
                <a:solidFill>
                  <a:srgbClr val="FF0000"/>
                </a:solidFill>
              </a:rPr>
              <a:t>Ultimately</a:t>
            </a:r>
            <a:r>
              <a:rPr lang="en-US" altLang="zh-CN" dirty="0"/>
              <a:t>, the extreme adventures could be developed into tempting tourism items, which could generate immense economic value.</a:t>
            </a:r>
          </a:p>
          <a:p>
            <a:pPr marL="0" indent="0">
              <a:buNone/>
            </a:pPr>
            <a:endParaRPr lang="en-US" altLang="zh-CN" dirty="0"/>
          </a:p>
          <a:p>
            <a:pPr marL="0" indent="0">
              <a:buNone/>
            </a:pPr>
            <a:r>
              <a:rPr lang="zh-CN" altLang="en-US" dirty="0"/>
              <a:t>分析：这是正向主体段的最后一个分论点，连接词质量依旧可圈可点。</a:t>
            </a:r>
            <a:endParaRPr lang="en-US" altLang="zh-CN" dirty="0"/>
          </a:p>
          <a:p>
            <a:pPr marL="0" indent="0">
              <a:buNone/>
            </a:pPr>
            <a:r>
              <a:rPr lang="en-US" altLang="zh-CN" dirty="0"/>
              <a:t>         ***</a:t>
            </a:r>
            <a:r>
              <a:rPr lang="zh-CN" altLang="en-US" dirty="0"/>
              <a:t>如果主体论证有三个分论点，在篇幅分配上最合理的是</a:t>
            </a:r>
            <a:r>
              <a:rPr lang="en-US" altLang="zh-CN" dirty="0"/>
              <a:t>1&gt;3&gt;2</a:t>
            </a:r>
            <a:r>
              <a:rPr lang="zh-CN" altLang="en-US" dirty="0"/>
              <a:t>。切忌出现</a:t>
            </a:r>
            <a:r>
              <a:rPr lang="en-US" altLang="zh-CN" dirty="0"/>
              <a:t>1&gt;2&gt;3</a:t>
            </a:r>
            <a:r>
              <a:rPr lang="zh-CN" altLang="en-US" dirty="0"/>
              <a:t>的情况，</a:t>
            </a:r>
            <a:endParaRPr lang="en-US" altLang="zh-CN" dirty="0"/>
          </a:p>
          <a:p>
            <a:pPr marL="0" indent="0">
              <a:buNone/>
            </a:pPr>
            <a:r>
              <a:rPr lang="en-US" altLang="zh-CN" dirty="0"/>
              <a:t>         </a:t>
            </a:r>
            <a:r>
              <a:rPr lang="zh-CN" altLang="en-US" dirty="0"/>
              <a:t>这会给考官头重脚轻、行文篇幅欠缺事先规划的感觉。如果实在没有足够的语言能力和论证</a:t>
            </a:r>
            <a:endParaRPr lang="en-US" altLang="zh-CN" dirty="0"/>
          </a:p>
          <a:p>
            <a:pPr marL="0" indent="0">
              <a:buNone/>
            </a:pPr>
            <a:r>
              <a:rPr lang="en-US" altLang="zh-CN" dirty="0"/>
              <a:t>         </a:t>
            </a:r>
            <a:r>
              <a:rPr lang="zh-CN" altLang="en-US" dirty="0"/>
              <a:t>逻辑论证第三个观点，也可以只有两个分论点。</a:t>
            </a:r>
            <a:endParaRPr lang="en-US" altLang="zh-CN" dirty="0"/>
          </a:p>
          <a:p>
            <a:pPr marL="0" indent="0">
              <a:buNone/>
            </a:pPr>
            <a:r>
              <a:rPr lang="en-US" altLang="zh-CN" dirty="0"/>
              <a:t>         </a:t>
            </a:r>
            <a:r>
              <a:rPr lang="zh-CN" altLang="en-US" dirty="0"/>
              <a:t>范文使用的行文技巧也值得学习，将第三个分论点和第二个分论点放在同一段，使阅读视觉</a:t>
            </a:r>
            <a:endParaRPr lang="en-US" altLang="zh-CN" dirty="0"/>
          </a:p>
          <a:p>
            <a:pPr marL="0" indent="0">
              <a:buNone/>
            </a:pPr>
            <a:r>
              <a:rPr lang="en-US" altLang="zh-CN" dirty="0"/>
              <a:t>         </a:t>
            </a:r>
            <a:r>
              <a:rPr lang="zh-CN" altLang="en-US" dirty="0"/>
              <a:t>感相对舒适。</a:t>
            </a:r>
            <a:endParaRPr lang="en-US" altLang="zh-CN" dirty="0"/>
          </a:p>
        </p:txBody>
      </p:sp>
    </p:spTree>
    <p:extLst>
      <p:ext uri="{BB962C8B-B14F-4D97-AF65-F5344CB8AC3E}">
        <p14:creationId xmlns:p14="http://schemas.microsoft.com/office/powerpoint/2010/main" val="2913529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CD8251-7D32-62A8-A8AA-4B2BDE6B9425}"/>
              </a:ext>
            </a:extLst>
          </p:cNvPr>
          <p:cNvSpPr>
            <a:spLocks noGrp="1"/>
          </p:cNvSpPr>
          <p:nvPr>
            <p:ph type="title"/>
          </p:nvPr>
        </p:nvSpPr>
        <p:spPr>
          <a:xfrm>
            <a:off x="608400" y="133680"/>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9708781D-69A8-C2CC-9736-B1CE96E13185}"/>
              </a:ext>
            </a:extLst>
          </p:cNvPr>
          <p:cNvSpPr>
            <a:spLocks noGrp="1"/>
          </p:cNvSpPr>
          <p:nvPr>
            <p:ph idx="1"/>
          </p:nvPr>
        </p:nvSpPr>
        <p:spPr/>
        <p:txBody>
          <a:bodyPr>
            <a:normAutofit/>
          </a:bodyPr>
          <a:lstStyle/>
          <a:p>
            <a:pPr marL="0" indent="0">
              <a:buNone/>
            </a:pPr>
            <a:r>
              <a:rPr lang="zh-CN" altLang="en-US" sz="4000" dirty="0"/>
              <a:t>主体段的结构基本遵循分论点</a:t>
            </a:r>
            <a:r>
              <a:rPr lang="en-US" altLang="zh-CN" sz="4000" dirty="0"/>
              <a:t>1----</a:t>
            </a:r>
            <a:r>
              <a:rPr lang="zh-CN" altLang="en-US" sz="4000" dirty="0"/>
              <a:t>逻辑论证</a:t>
            </a:r>
            <a:r>
              <a:rPr lang="en-US" altLang="zh-CN" sz="4000" dirty="0"/>
              <a:t>----</a:t>
            </a:r>
            <a:r>
              <a:rPr lang="zh-CN" altLang="en-US" sz="4000" dirty="0"/>
              <a:t>分论点</a:t>
            </a:r>
            <a:r>
              <a:rPr lang="en-US" altLang="zh-CN" sz="4000" dirty="0"/>
              <a:t>2----</a:t>
            </a:r>
            <a:r>
              <a:rPr lang="zh-CN" altLang="en-US" sz="4000" dirty="0"/>
              <a:t>举例论证</a:t>
            </a:r>
            <a:r>
              <a:rPr lang="en-US" altLang="zh-CN" sz="4000" dirty="0"/>
              <a:t>1----</a:t>
            </a:r>
            <a:r>
              <a:rPr lang="zh-CN" altLang="en-US" sz="4000" dirty="0"/>
              <a:t>逻辑论证</a:t>
            </a:r>
            <a:r>
              <a:rPr lang="en-US" altLang="zh-CN" sz="4000" dirty="0"/>
              <a:t>----</a:t>
            </a:r>
            <a:r>
              <a:rPr lang="zh-CN" altLang="en-US" sz="4000" dirty="0"/>
              <a:t>分论点</a:t>
            </a:r>
            <a:r>
              <a:rPr lang="en-US" altLang="zh-CN" sz="4000" dirty="0"/>
              <a:t>3----</a:t>
            </a:r>
            <a:r>
              <a:rPr lang="zh-CN" altLang="en-US" sz="4000" dirty="0"/>
              <a:t>逻辑论证的模式</a:t>
            </a:r>
          </a:p>
        </p:txBody>
      </p:sp>
    </p:spTree>
    <p:extLst>
      <p:ext uri="{BB962C8B-B14F-4D97-AF65-F5344CB8AC3E}">
        <p14:creationId xmlns:p14="http://schemas.microsoft.com/office/powerpoint/2010/main" val="4145108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90B443-C738-4414-AC1A-239678383FCD}"/>
              </a:ext>
            </a:extLst>
          </p:cNvPr>
          <p:cNvSpPr>
            <a:spLocks noGrp="1"/>
          </p:cNvSpPr>
          <p:nvPr>
            <p:ph type="title"/>
          </p:nvPr>
        </p:nvSpPr>
        <p:spPr>
          <a:xfrm>
            <a:off x="608400" y="116031"/>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0E911281-5DC4-30E1-0695-FFA6A282219E}"/>
              </a:ext>
            </a:extLst>
          </p:cNvPr>
          <p:cNvSpPr>
            <a:spLocks noGrp="1"/>
          </p:cNvSpPr>
          <p:nvPr>
            <p:ph idx="1"/>
          </p:nvPr>
        </p:nvSpPr>
        <p:spPr/>
        <p:txBody>
          <a:bodyPr/>
          <a:lstStyle/>
          <a:p>
            <a:pPr marL="0" indent="0">
              <a:buNone/>
            </a:pPr>
            <a:r>
              <a:rPr lang="en-US" altLang="zh-CN" dirty="0"/>
              <a:t>Concession paragraph: Nonetheless, problems invariably ensue. One possible downside is that some perilous sports activities might become the roots of injuries and agonies. There exists high levels of injuries, which sometimes disables players and even ruins their whole lives.</a:t>
            </a:r>
          </a:p>
          <a:p>
            <a:pPr marL="0" indent="0">
              <a:buNone/>
            </a:pPr>
            <a:endParaRPr lang="en-US" altLang="zh-CN" dirty="0"/>
          </a:p>
          <a:p>
            <a:pPr marL="0" indent="0">
              <a:buNone/>
            </a:pPr>
            <a:r>
              <a:rPr lang="zh-CN" altLang="en-US" dirty="0"/>
              <a:t>分析：让步段的基础论证结构与正向论点没有本质区别。但是需要注意的是，论证的语言应当</a:t>
            </a:r>
            <a:endParaRPr lang="en-US" altLang="zh-CN" dirty="0"/>
          </a:p>
          <a:p>
            <a:pPr marL="0" indent="0">
              <a:buNone/>
            </a:pPr>
            <a:r>
              <a:rPr lang="en-US" altLang="zh-CN" dirty="0"/>
              <a:t>         </a:t>
            </a:r>
            <a:r>
              <a:rPr lang="zh-CN" altLang="en-US" dirty="0"/>
              <a:t>程度较轻（</a:t>
            </a:r>
            <a:r>
              <a:rPr lang="en-US" altLang="zh-CN" dirty="0"/>
              <a:t>One</a:t>
            </a:r>
            <a:r>
              <a:rPr lang="zh-CN" altLang="en-US" dirty="0"/>
              <a:t> </a:t>
            </a:r>
            <a:r>
              <a:rPr lang="en-US" altLang="zh-CN" dirty="0"/>
              <a:t>possible</a:t>
            </a:r>
            <a:r>
              <a:rPr lang="zh-CN" altLang="en-US" dirty="0"/>
              <a:t> </a:t>
            </a:r>
            <a:r>
              <a:rPr lang="en-US" altLang="zh-CN" dirty="0"/>
              <a:t>downside</a:t>
            </a:r>
            <a:r>
              <a:rPr lang="zh-CN" altLang="en-US" dirty="0"/>
              <a:t>），若论证性太强，相当于搬起石头砸自己的脚。</a:t>
            </a:r>
            <a:endParaRPr lang="en-US" altLang="zh-CN" dirty="0"/>
          </a:p>
        </p:txBody>
      </p:sp>
    </p:spTree>
    <p:extLst>
      <p:ext uri="{BB962C8B-B14F-4D97-AF65-F5344CB8AC3E}">
        <p14:creationId xmlns:p14="http://schemas.microsoft.com/office/powerpoint/2010/main" val="2691901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5C05E5-9654-53B2-85E0-FF0D2B5068AD}"/>
              </a:ext>
            </a:extLst>
          </p:cNvPr>
          <p:cNvSpPr>
            <a:spLocks noGrp="1"/>
          </p:cNvSpPr>
          <p:nvPr>
            <p:ph type="title"/>
          </p:nvPr>
        </p:nvSpPr>
        <p:spPr>
          <a:xfrm>
            <a:off x="608400" y="166273"/>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A03BC1F1-8BB7-C219-DE1F-23159706526A}"/>
              </a:ext>
            </a:extLst>
          </p:cNvPr>
          <p:cNvSpPr>
            <a:spLocks noGrp="1"/>
          </p:cNvSpPr>
          <p:nvPr>
            <p:ph idx="1"/>
          </p:nvPr>
        </p:nvSpPr>
        <p:spPr/>
        <p:txBody>
          <a:bodyPr/>
          <a:lstStyle/>
          <a:p>
            <a:pPr marL="0" indent="0">
              <a:buNone/>
            </a:pPr>
            <a:r>
              <a:rPr lang="en-US" altLang="zh-CN" dirty="0"/>
              <a:t>Concession paragraph: </a:t>
            </a:r>
            <a:r>
              <a:rPr lang="en-US" altLang="zh-CN" dirty="0">
                <a:solidFill>
                  <a:srgbClr val="FF0000"/>
                </a:solidFill>
              </a:rPr>
              <a:t>Another adverse aspect is that </a:t>
            </a:r>
            <a:r>
              <a:rPr lang="en-US" altLang="zh-CN" dirty="0"/>
              <a:t>some intense extreme sports are merely an excuse for violence. </a:t>
            </a:r>
            <a:r>
              <a:rPr lang="en-US" altLang="zh-CN" dirty="0">
                <a:solidFill>
                  <a:srgbClr val="FF0000"/>
                </a:solidFill>
              </a:rPr>
              <a:t>To illustrate</a:t>
            </a:r>
            <a:r>
              <a:rPr lang="en-US" altLang="zh-CN" dirty="0"/>
              <a:t>, boxing involves excessive violence and bloody contents </a:t>
            </a:r>
            <a:r>
              <a:rPr lang="en-US" altLang="zh-CN" dirty="0">
                <a:solidFill>
                  <a:srgbClr val="FF0000"/>
                </a:solidFill>
              </a:rPr>
              <a:t>so that </a:t>
            </a:r>
            <a:r>
              <a:rPr lang="en-US" altLang="zh-CN" dirty="0"/>
              <a:t>it really has an adverse influence on adolescent TV viewers, </a:t>
            </a:r>
            <a:r>
              <a:rPr lang="en-US" altLang="zh-CN" dirty="0">
                <a:solidFill>
                  <a:srgbClr val="FF0000"/>
                </a:solidFill>
              </a:rPr>
              <a:t>namely,</a:t>
            </a:r>
            <a:r>
              <a:rPr lang="en-US" altLang="zh-CN" dirty="0"/>
              <a:t> it might arouse their sadistic impulses.</a:t>
            </a:r>
          </a:p>
          <a:p>
            <a:pPr marL="0" indent="0">
              <a:buNone/>
            </a:pPr>
            <a:endParaRPr lang="en-US" altLang="zh-CN" dirty="0"/>
          </a:p>
          <a:p>
            <a:pPr marL="0" indent="0">
              <a:buNone/>
            </a:pPr>
            <a:r>
              <a:rPr lang="zh-CN" altLang="en-US" dirty="0"/>
              <a:t>分析：这个语段范文所采用的连接词非常精彩。</a:t>
            </a:r>
            <a:r>
              <a:rPr lang="en-US" altLang="zh-CN" dirty="0"/>
              <a:t>To illustrate </a:t>
            </a:r>
            <a:r>
              <a:rPr lang="zh-CN" altLang="en-US" dirty="0"/>
              <a:t>是 </a:t>
            </a:r>
            <a:r>
              <a:rPr lang="en-US" altLang="zh-CN" dirty="0"/>
              <a:t>for example </a:t>
            </a:r>
            <a:r>
              <a:rPr lang="zh-CN" altLang="en-US" dirty="0"/>
              <a:t>和</a:t>
            </a:r>
            <a:r>
              <a:rPr lang="en-US" altLang="zh-CN" dirty="0"/>
              <a:t>for instance</a:t>
            </a:r>
            <a:r>
              <a:rPr lang="zh-CN" altLang="en-US" dirty="0"/>
              <a:t>的同</a:t>
            </a:r>
            <a:endParaRPr lang="en-US" altLang="zh-CN" dirty="0"/>
          </a:p>
          <a:p>
            <a:pPr marL="0" indent="0">
              <a:buNone/>
            </a:pPr>
            <a:r>
              <a:rPr lang="en-US" altLang="zh-CN" dirty="0"/>
              <a:t>         </a:t>
            </a:r>
            <a:r>
              <a:rPr lang="zh-CN" altLang="en-US" dirty="0"/>
              <a:t>义词（关于同义词在写作中的运用，稍后会提到）。</a:t>
            </a:r>
            <a:endParaRPr lang="en-US" altLang="zh-CN" dirty="0"/>
          </a:p>
          <a:p>
            <a:pPr marL="0" indent="0">
              <a:buNone/>
            </a:pPr>
            <a:r>
              <a:rPr lang="en-US" altLang="zh-CN" dirty="0"/>
              <a:t>         ***</a:t>
            </a:r>
            <a:r>
              <a:rPr lang="zh-CN" altLang="en-US" dirty="0"/>
              <a:t>从结构上将，让步段最好只有一个分论点，篇幅不宜太长，相比正向主体段应当是“略”</a:t>
            </a:r>
            <a:endParaRPr lang="en-US" altLang="zh-CN" dirty="0"/>
          </a:p>
          <a:p>
            <a:pPr marL="0" indent="0">
              <a:buNone/>
            </a:pPr>
            <a:r>
              <a:rPr lang="en-US" altLang="zh-CN" dirty="0"/>
              <a:t>         </a:t>
            </a:r>
            <a:r>
              <a:rPr lang="zh-CN" altLang="en-US" dirty="0"/>
              <a:t>的角色。范文存在的问题是让步段过于冗长。</a:t>
            </a:r>
          </a:p>
        </p:txBody>
      </p:sp>
    </p:spTree>
    <p:extLst>
      <p:ext uri="{BB962C8B-B14F-4D97-AF65-F5344CB8AC3E}">
        <p14:creationId xmlns:p14="http://schemas.microsoft.com/office/powerpoint/2010/main" val="2331350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2647-0C60-3DDB-E236-E6906692EDB1}"/>
              </a:ext>
            </a:extLst>
          </p:cNvPr>
          <p:cNvSpPr>
            <a:spLocks noGrp="1"/>
          </p:cNvSpPr>
          <p:nvPr>
            <p:ph type="title"/>
          </p:nvPr>
        </p:nvSpPr>
        <p:spPr>
          <a:xfrm>
            <a:off x="608400" y="105982"/>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952A38CB-F483-9584-0195-8B85ED10C20D}"/>
              </a:ext>
            </a:extLst>
          </p:cNvPr>
          <p:cNvSpPr>
            <a:spLocks noGrp="1"/>
          </p:cNvSpPr>
          <p:nvPr>
            <p:ph idx="1"/>
          </p:nvPr>
        </p:nvSpPr>
        <p:spPr>
          <a:xfrm>
            <a:off x="899803" y="1530593"/>
            <a:ext cx="10969200" cy="4759200"/>
          </a:xfrm>
        </p:spPr>
        <p:txBody>
          <a:bodyPr>
            <a:normAutofit/>
          </a:bodyPr>
          <a:lstStyle/>
          <a:p>
            <a:pPr marL="0" indent="0">
              <a:buNone/>
            </a:pPr>
            <a:r>
              <a:rPr lang="zh-CN" altLang="en-US" sz="4000" dirty="0"/>
              <a:t>让步段结构：论点</a:t>
            </a:r>
            <a:r>
              <a:rPr lang="en-US" altLang="zh-CN" sz="4000" dirty="0"/>
              <a:t>----</a:t>
            </a:r>
            <a:r>
              <a:rPr lang="zh-CN" altLang="en-US" sz="4000" dirty="0"/>
              <a:t>逻辑</a:t>
            </a:r>
            <a:r>
              <a:rPr lang="en-US" altLang="zh-CN" sz="4000" dirty="0"/>
              <a:t>/</a:t>
            </a:r>
            <a:r>
              <a:rPr lang="zh-CN" altLang="en-US" sz="4000" dirty="0"/>
              <a:t>举例论证</a:t>
            </a:r>
            <a:r>
              <a:rPr lang="en-US" altLang="zh-CN" sz="4000" dirty="0"/>
              <a:t>----</a:t>
            </a:r>
            <a:r>
              <a:rPr lang="zh-CN" altLang="en-US" sz="4000" dirty="0"/>
              <a:t>尽管（反面论点），但是仍然（正面观点）</a:t>
            </a:r>
            <a:endParaRPr lang="en-US" altLang="zh-CN" sz="4000" dirty="0"/>
          </a:p>
          <a:p>
            <a:pPr marL="0" indent="0">
              <a:buNone/>
            </a:pPr>
            <a:endParaRPr lang="zh-CN" altLang="en-US" sz="4000" dirty="0"/>
          </a:p>
        </p:txBody>
      </p:sp>
    </p:spTree>
    <p:extLst>
      <p:ext uri="{BB962C8B-B14F-4D97-AF65-F5344CB8AC3E}">
        <p14:creationId xmlns:p14="http://schemas.microsoft.com/office/powerpoint/2010/main" val="2522486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92D26-4643-7610-9F6C-7A4281FBE726}"/>
              </a:ext>
            </a:extLst>
          </p:cNvPr>
          <p:cNvSpPr>
            <a:spLocks noGrp="1"/>
          </p:cNvSpPr>
          <p:nvPr>
            <p:ph type="title"/>
          </p:nvPr>
        </p:nvSpPr>
        <p:spPr>
          <a:xfrm>
            <a:off x="608400" y="136127"/>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25A617B1-5727-A4DC-AA74-AAE4B9A14F3B}"/>
              </a:ext>
            </a:extLst>
          </p:cNvPr>
          <p:cNvSpPr>
            <a:spLocks noGrp="1"/>
          </p:cNvSpPr>
          <p:nvPr>
            <p:ph idx="1"/>
          </p:nvPr>
        </p:nvSpPr>
        <p:spPr/>
        <p:txBody>
          <a:bodyPr/>
          <a:lstStyle/>
          <a:p>
            <a:pPr marL="0" indent="0">
              <a:buNone/>
            </a:pPr>
            <a:r>
              <a:rPr lang="en-US" altLang="zh-CN" dirty="0"/>
              <a:t>Last paragraph: </a:t>
            </a:r>
            <a:r>
              <a:rPr lang="en-US" altLang="zh-CN" dirty="0">
                <a:solidFill>
                  <a:srgbClr val="FF0000"/>
                </a:solidFill>
              </a:rPr>
              <a:t>Conclusively</a:t>
            </a:r>
            <a:r>
              <a:rPr lang="en-US" altLang="zh-CN" dirty="0"/>
              <a:t>, I encourage the extreme adventures, </a:t>
            </a:r>
            <a:r>
              <a:rPr lang="en-US" altLang="zh-CN" dirty="0">
                <a:solidFill>
                  <a:srgbClr val="FF0000"/>
                </a:solidFill>
              </a:rPr>
              <a:t>for</a:t>
            </a:r>
            <a:r>
              <a:rPr lang="en-US" altLang="zh-CN" dirty="0"/>
              <a:t> it symbolizes freedom, </a:t>
            </a:r>
            <a:r>
              <a:rPr lang="en-US" altLang="zh-CN" dirty="0">
                <a:solidFill>
                  <a:srgbClr val="FF0000"/>
                </a:solidFill>
              </a:rPr>
              <a:t>so</a:t>
            </a:r>
            <a:r>
              <a:rPr lang="en-US" altLang="zh-CN" dirty="0"/>
              <a:t> it is a person’s elementary right to opt for his or her favorite sports activities.</a:t>
            </a:r>
          </a:p>
          <a:p>
            <a:pPr marL="0" indent="0">
              <a:buNone/>
            </a:pPr>
            <a:endParaRPr lang="en-US" altLang="zh-CN" dirty="0"/>
          </a:p>
          <a:p>
            <a:pPr marL="0" indent="0">
              <a:buNone/>
            </a:pPr>
            <a:r>
              <a:rPr lang="zh-CN" altLang="en-US" dirty="0"/>
              <a:t>分析：和首段一样，末段首先要</a:t>
            </a:r>
            <a:r>
              <a:rPr lang="en-US" altLang="zh-CN" dirty="0"/>
              <a:t>paraphrase</a:t>
            </a:r>
            <a:r>
              <a:rPr lang="zh-CN" altLang="en-US" dirty="0"/>
              <a:t>自己的几个分论点。</a:t>
            </a:r>
            <a:endParaRPr lang="en-US" altLang="zh-CN" dirty="0"/>
          </a:p>
          <a:p>
            <a:pPr marL="0" indent="0">
              <a:buNone/>
            </a:pPr>
            <a:r>
              <a:rPr lang="en-US" altLang="zh-CN" dirty="0"/>
              <a:t>         </a:t>
            </a:r>
            <a:r>
              <a:rPr lang="zh-CN" altLang="en-US" dirty="0"/>
              <a:t>范文运用的</a:t>
            </a:r>
            <a:r>
              <a:rPr lang="en-US" altLang="zh-CN" dirty="0"/>
              <a:t>I believe/encourage </a:t>
            </a:r>
            <a:r>
              <a:rPr lang="zh-CN" altLang="en-US" dirty="0"/>
              <a:t>中心论点，</a:t>
            </a:r>
            <a:r>
              <a:rPr lang="en-US" altLang="zh-CN" dirty="0"/>
              <a:t>for </a:t>
            </a:r>
            <a:r>
              <a:rPr lang="zh-CN" altLang="en-US" dirty="0"/>
              <a:t>分论点是较为自然的陈述方法。</a:t>
            </a:r>
            <a:endParaRPr lang="en-US" altLang="zh-CN" dirty="0"/>
          </a:p>
          <a:p>
            <a:pPr marL="0" indent="0">
              <a:buNone/>
            </a:pPr>
            <a:r>
              <a:rPr lang="en-US" altLang="zh-CN" dirty="0"/>
              <a:t>         </a:t>
            </a:r>
            <a:r>
              <a:rPr lang="zh-CN" altLang="en-US" dirty="0"/>
              <a:t>连接词使用副词的效果会好很多。</a:t>
            </a:r>
            <a:r>
              <a:rPr lang="en-US" altLang="zh-CN" dirty="0"/>
              <a:t>Conclusively</a:t>
            </a:r>
            <a:r>
              <a:rPr lang="zh-CN" altLang="en-US" dirty="0"/>
              <a:t>就比</a:t>
            </a:r>
            <a:r>
              <a:rPr lang="en-US" altLang="zh-CN" dirty="0"/>
              <a:t>in conclusion</a:t>
            </a:r>
            <a:r>
              <a:rPr lang="zh-CN" altLang="en-US" dirty="0"/>
              <a:t>更自然。</a:t>
            </a:r>
            <a:endParaRPr lang="en-US" altLang="zh-CN" dirty="0"/>
          </a:p>
          <a:p>
            <a:pPr marL="0" indent="0">
              <a:buNone/>
            </a:pPr>
            <a:r>
              <a:rPr lang="en-US" altLang="zh-CN" dirty="0"/>
              <a:t>         </a:t>
            </a:r>
            <a:r>
              <a:rPr lang="zh-CN" altLang="en-US" dirty="0"/>
              <a:t>需要注意的是，文章中使用的连接词，特别是较为关键的位置上使用的，应当保证其书面</a:t>
            </a:r>
            <a:endParaRPr lang="en-US" altLang="zh-CN" dirty="0"/>
          </a:p>
          <a:p>
            <a:pPr marL="0" indent="0">
              <a:buNone/>
            </a:pPr>
            <a:r>
              <a:rPr lang="en-US" altLang="zh-CN" dirty="0"/>
              <a:t>         </a:t>
            </a:r>
            <a:r>
              <a:rPr lang="zh-CN" altLang="en-US" dirty="0"/>
              <a:t>性和学术性。</a:t>
            </a:r>
            <a:r>
              <a:rPr lang="en-US" altLang="zh-CN" dirty="0"/>
              <a:t>To wrap it up, in a nutshell </a:t>
            </a:r>
            <a:r>
              <a:rPr lang="zh-CN" altLang="en-US" dirty="0"/>
              <a:t>这类较为随意和口语的表达不建议使用。</a:t>
            </a:r>
          </a:p>
        </p:txBody>
      </p:sp>
    </p:spTree>
    <p:extLst>
      <p:ext uri="{BB962C8B-B14F-4D97-AF65-F5344CB8AC3E}">
        <p14:creationId xmlns:p14="http://schemas.microsoft.com/office/powerpoint/2010/main" val="38614841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23B633-9207-FA66-CC6F-DFA9B679801E}"/>
              </a:ext>
            </a:extLst>
          </p:cNvPr>
          <p:cNvSpPr>
            <a:spLocks noGrp="1"/>
          </p:cNvSpPr>
          <p:nvPr>
            <p:ph type="title"/>
          </p:nvPr>
        </p:nvSpPr>
        <p:spPr>
          <a:xfrm>
            <a:off x="608400" y="105983"/>
            <a:ext cx="10969200" cy="705600"/>
          </a:xfrm>
        </p:spPr>
        <p:txBody>
          <a:bodyPr/>
          <a:lstStyle/>
          <a:p>
            <a:r>
              <a:rPr lang="zh-CN" altLang="en-US" dirty="0"/>
              <a:t>范文精析</a:t>
            </a:r>
          </a:p>
        </p:txBody>
      </p:sp>
      <p:sp>
        <p:nvSpPr>
          <p:cNvPr id="3" name="内容占位符 2">
            <a:extLst>
              <a:ext uri="{FF2B5EF4-FFF2-40B4-BE49-F238E27FC236}">
                <a16:creationId xmlns:a16="http://schemas.microsoft.com/office/drawing/2014/main" id="{5D0DFF52-3879-550B-5C71-40FCE2E9B6D2}"/>
              </a:ext>
            </a:extLst>
          </p:cNvPr>
          <p:cNvSpPr>
            <a:spLocks noGrp="1"/>
          </p:cNvSpPr>
          <p:nvPr>
            <p:ph idx="1"/>
          </p:nvPr>
        </p:nvSpPr>
        <p:spPr/>
        <p:txBody>
          <a:bodyPr/>
          <a:lstStyle/>
          <a:p>
            <a:pPr marL="0" indent="0">
              <a:buNone/>
            </a:pPr>
            <a:r>
              <a:rPr lang="en-US" altLang="zh-CN" dirty="0"/>
              <a:t>Last paragraph: Efforts should be made to ensure risky sports events are thrilling, amusing and profit-making.</a:t>
            </a:r>
          </a:p>
          <a:p>
            <a:pPr marL="0" indent="0">
              <a:buNone/>
            </a:pPr>
            <a:r>
              <a:rPr lang="zh-CN" altLang="en-US" dirty="0"/>
              <a:t>分析：</a:t>
            </a:r>
            <a:r>
              <a:rPr lang="en-US" altLang="zh-CN" dirty="0"/>
              <a:t>Recommendation.</a:t>
            </a:r>
          </a:p>
          <a:p>
            <a:pPr marL="0" indent="0">
              <a:buNone/>
            </a:pPr>
            <a:r>
              <a:rPr lang="en-US" altLang="zh-CN" dirty="0"/>
              <a:t>         </a:t>
            </a:r>
            <a:r>
              <a:rPr lang="zh-CN" altLang="en-US" dirty="0"/>
              <a:t>不建议展开太多论证，结尾段应当简明扼要</a:t>
            </a:r>
          </a:p>
        </p:txBody>
      </p:sp>
    </p:spTree>
    <p:extLst>
      <p:ext uri="{BB962C8B-B14F-4D97-AF65-F5344CB8AC3E}">
        <p14:creationId xmlns:p14="http://schemas.microsoft.com/office/powerpoint/2010/main" val="2902398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ACAADF-C54C-B5A0-7DF8-22F39FEE37A7}"/>
              </a:ext>
            </a:extLst>
          </p:cNvPr>
          <p:cNvSpPr>
            <a:spLocks noGrp="1"/>
          </p:cNvSpPr>
          <p:nvPr>
            <p:ph type="title"/>
          </p:nvPr>
        </p:nvSpPr>
        <p:spPr>
          <a:xfrm>
            <a:off x="608400" y="22863"/>
            <a:ext cx="10969200" cy="705600"/>
          </a:xfrm>
        </p:spPr>
        <p:txBody>
          <a:bodyPr/>
          <a:lstStyle/>
          <a:p>
            <a:endParaRPr lang="zh-CN" altLang="en-US"/>
          </a:p>
        </p:txBody>
      </p:sp>
      <p:sp>
        <p:nvSpPr>
          <p:cNvPr id="3" name="内容占位符 2">
            <a:extLst>
              <a:ext uri="{FF2B5EF4-FFF2-40B4-BE49-F238E27FC236}">
                <a16:creationId xmlns:a16="http://schemas.microsoft.com/office/drawing/2014/main" id="{4D055718-E139-B083-103C-731EAF8E2CC5}"/>
              </a:ext>
            </a:extLst>
          </p:cNvPr>
          <p:cNvSpPr>
            <a:spLocks noGrp="1"/>
          </p:cNvSpPr>
          <p:nvPr>
            <p:ph idx="1"/>
          </p:nvPr>
        </p:nvSpPr>
        <p:spPr>
          <a:xfrm>
            <a:off x="768821" y="1602695"/>
            <a:ext cx="10969200" cy="4759200"/>
          </a:xfrm>
        </p:spPr>
        <p:txBody>
          <a:bodyPr>
            <a:normAutofit/>
          </a:bodyPr>
          <a:lstStyle/>
          <a:p>
            <a:pPr marL="0" indent="0">
              <a:buNone/>
            </a:pPr>
            <a:r>
              <a:rPr lang="zh-CN" altLang="en-US" sz="2400" dirty="0"/>
              <a:t>文章最终所得分数的两个决定性因素是语言</a:t>
            </a:r>
            <a:r>
              <a:rPr lang="en-US" altLang="zh-CN" sz="2400" dirty="0"/>
              <a:t>(Organization, Language)</a:t>
            </a:r>
            <a:r>
              <a:rPr lang="zh-CN" altLang="en-US" sz="2400" dirty="0"/>
              <a:t>和论点逻辑和思辨性（</a:t>
            </a:r>
            <a:r>
              <a:rPr lang="en-US" altLang="zh-CN" sz="2400" dirty="0"/>
              <a:t>Idea development</a:t>
            </a:r>
            <a:r>
              <a:rPr lang="zh-CN" altLang="en-US" sz="2400" dirty="0"/>
              <a:t>），接下来将从这两个方面分别给出建议。</a:t>
            </a:r>
          </a:p>
        </p:txBody>
      </p:sp>
    </p:spTree>
    <p:extLst>
      <p:ext uri="{BB962C8B-B14F-4D97-AF65-F5344CB8AC3E}">
        <p14:creationId xmlns:p14="http://schemas.microsoft.com/office/powerpoint/2010/main" val="3770435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3DE5E8-D0E6-886F-02DC-828D688032FA}"/>
              </a:ext>
            </a:extLst>
          </p:cNvPr>
          <p:cNvSpPr>
            <a:spLocks noGrp="1"/>
          </p:cNvSpPr>
          <p:nvPr>
            <p:ph type="title"/>
          </p:nvPr>
        </p:nvSpPr>
        <p:spPr>
          <a:xfrm>
            <a:off x="608400" y="73708"/>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33B96F2C-2AEC-BE69-1D84-F9CB4C5B9A72}"/>
              </a:ext>
            </a:extLst>
          </p:cNvPr>
          <p:cNvSpPr>
            <a:spLocks noGrp="1"/>
          </p:cNvSpPr>
          <p:nvPr>
            <p:ph idx="1"/>
          </p:nvPr>
        </p:nvSpPr>
        <p:spPr>
          <a:xfrm>
            <a:off x="608400" y="1157187"/>
            <a:ext cx="10969200" cy="4759200"/>
          </a:xfrm>
        </p:spPr>
        <p:txBody>
          <a:bodyPr/>
          <a:lstStyle/>
          <a:p>
            <a:pPr marL="342900" indent="-342900">
              <a:buAutoNum type="arabicPeriod"/>
            </a:pPr>
            <a:r>
              <a:rPr lang="zh-CN" altLang="en-US" dirty="0"/>
              <a:t>同义词替换</a:t>
            </a:r>
            <a:endParaRPr lang="en-US" altLang="zh-CN" dirty="0"/>
          </a:p>
          <a:p>
            <a:pPr marL="0" indent="0">
              <a:buNone/>
            </a:pPr>
            <a:r>
              <a:rPr lang="zh-CN" altLang="en-US" dirty="0"/>
              <a:t>    使用恰当的同义词替换原有词汇，展示词汇丰富度（</a:t>
            </a:r>
            <a:r>
              <a:rPr lang="en-US" altLang="zh-CN" dirty="0"/>
              <a:t>lexical resource</a:t>
            </a:r>
            <a:r>
              <a:rPr lang="zh-CN" altLang="en-US" dirty="0"/>
              <a:t>）</a:t>
            </a:r>
            <a:endParaRPr lang="en-US" altLang="zh-CN" dirty="0"/>
          </a:p>
          <a:p>
            <a:pPr marL="0" indent="0">
              <a:buNone/>
            </a:pPr>
            <a:r>
              <a:rPr lang="en-US" altLang="zh-CN" dirty="0"/>
              <a:t>     </a:t>
            </a:r>
            <a:r>
              <a:rPr lang="zh-CN" altLang="en-US" dirty="0"/>
              <a:t>范文实例： </a:t>
            </a:r>
            <a:r>
              <a:rPr lang="en-US" altLang="zh-CN" dirty="0"/>
              <a:t>disadvantage-adverse aspect-downside</a:t>
            </a:r>
          </a:p>
          <a:p>
            <a:pPr marL="0" indent="0">
              <a:buNone/>
            </a:pPr>
            <a:r>
              <a:rPr lang="en-US" altLang="zh-CN" dirty="0"/>
              <a:t>           </a:t>
            </a:r>
            <a:r>
              <a:rPr lang="zh-CN" altLang="en-US" dirty="0"/>
              <a:t>其他：</a:t>
            </a:r>
            <a:r>
              <a:rPr lang="en-US" altLang="zh-CN" dirty="0"/>
              <a:t>condemn-reprimand</a:t>
            </a:r>
          </a:p>
          <a:p>
            <a:pPr marL="0" indent="0">
              <a:buNone/>
            </a:pPr>
            <a:r>
              <a:rPr lang="en-US" altLang="zh-CN" dirty="0"/>
              <a:t>                     for example- for instance- to illustrate- as an apt illustration</a:t>
            </a:r>
          </a:p>
          <a:p>
            <a:pPr marL="0" indent="0">
              <a:buNone/>
            </a:pPr>
            <a:r>
              <a:rPr lang="en-US" altLang="zh-CN" dirty="0"/>
              <a:t>                     solve-impart</a:t>
            </a:r>
          </a:p>
          <a:p>
            <a:pPr marL="0" indent="0">
              <a:buNone/>
            </a:pPr>
            <a:r>
              <a:rPr lang="en-US" altLang="zh-CN" dirty="0"/>
              <a:t>                     develop-foster</a:t>
            </a:r>
          </a:p>
          <a:p>
            <a:pPr marL="0" indent="0">
              <a:buNone/>
            </a:pPr>
            <a:r>
              <a:rPr lang="en-US" altLang="zh-CN" dirty="0"/>
              <a:t>                     puzzle-bewilder</a:t>
            </a:r>
          </a:p>
          <a:p>
            <a:pPr marL="0" indent="0">
              <a:buNone/>
            </a:pPr>
            <a:r>
              <a:rPr lang="en-US" altLang="zh-CN" dirty="0"/>
              <a:t>                     ……</a:t>
            </a:r>
            <a:endParaRPr lang="zh-CN" altLang="en-US" dirty="0"/>
          </a:p>
        </p:txBody>
      </p:sp>
    </p:spTree>
    <p:extLst>
      <p:ext uri="{BB962C8B-B14F-4D97-AF65-F5344CB8AC3E}">
        <p14:creationId xmlns:p14="http://schemas.microsoft.com/office/powerpoint/2010/main" val="1601289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DC7CCE-FB88-0CC8-75B1-F8EE00E41B45}"/>
              </a:ext>
            </a:extLst>
          </p:cNvPr>
          <p:cNvSpPr>
            <a:spLocks noGrp="1"/>
          </p:cNvSpPr>
          <p:nvPr>
            <p:ph type="title"/>
          </p:nvPr>
        </p:nvSpPr>
        <p:spPr>
          <a:xfrm>
            <a:off x="730949" y="161666"/>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EC37DBF5-3A83-DAF9-FB94-C93DBDEA42F0}"/>
              </a:ext>
            </a:extLst>
          </p:cNvPr>
          <p:cNvSpPr>
            <a:spLocks noGrp="1"/>
          </p:cNvSpPr>
          <p:nvPr>
            <p:ph idx="1"/>
          </p:nvPr>
        </p:nvSpPr>
        <p:spPr>
          <a:xfrm>
            <a:off x="122549" y="1314000"/>
            <a:ext cx="11577600" cy="5382334"/>
          </a:xfrm>
        </p:spPr>
        <p:txBody>
          <a:bodyPr>
            <a:normAutofit fontScale="85000" lnSpcReduction="20000"/>
          </a:bodyPr>
          <a:lstStyle/>
          <a:p>
            <a:pPr marL="0" indent="0">
              <a:buNone/>
            </a:pPr>
            <a:r>
              <a:rPr lang="en-US" altLang="zh-CN" sz="2800" dirty="0"/>
              <a:t>       </a:t>
            </a:r>
            <a:r>
              <a:rPr lang="zh-CN" altLang="en-US" sz="2800" dirty="0"/>
              <a:t>练习： </a:t>
            </a:r>
            <a:r>
              <a:rPr lang="en-US" altLang="zh-CN" sz="2800" dirty="0"/>
              <a:t>advantage-</a:t>
            </a:r>
          </a:p>
          <a:p>
            <a:pPr marL="0" indent="0">
              <a:buNone/>
            </a:pPr>
            <a:r>
              <a:rPr lang="en-US" altLang="zh-CN" sz="2800" dirty="0"/>
              <a:t>                 damage- </a:t>
            </a:r>
          </a:p>
          <a:p>
            <a:pPr marL="0" indent="0">
              <a:buNone/>
            </a:pPr>
            <a:r>
              <a:rPr lang="en-US" altLang="zh-CN" sz="2800" dirty="0"/>
              <a:t>                 standpoint-</a:t>
            </a:r>
          </a:p>
          <a:p>
            <a:pPr marL="0" indent="0">
              <a:buNone/>
            </a:pPr>
            <a:r>
              <a:rPr lang="en-US" altLang="zh-CN" sz="2800" dirty="0"/>
              <a:t>                 important-</a:t>
            </a:r>
          </a:p>
          <a:p>
            <a:pPr marL="0" indent="0">
              <a:buNone/>
            </a:pPr>
            <a:r>
              <a:rPr lang="en-US" altLang="zh-CN" sz="2800" dirty="0"/>
              <a:t>                 abate-</a:t>
            </a:r>
          </a:p>
          <a:p>
            <a:pPr marL="0" indent="0">
              <a:buNone/>
            </a:pPr>
            <a:r>
              <a:rPr lang="en-US" altLang="zh-CN" sz="2800" dirty="0"/>
              <a:t>                 apply-</a:t>
            </a:r>
          </a:p>
          <a:p>
            <a:pPr marL="0" indent="0">
              <a:buNone/>
            </a:pPr>
            <a:r>
              <a:rPr lang="en-US" altLang="zh-CN" sz="2800" dirty="0"/>
              <a:t>                 teach-</a:t>
            </a:r>
          </a:p>
          <a:p>
            <a:pPr marL="0" indent="0">
              <a:buNone/>
            </a:pPr>
            <a:r>
              <a:rPr lang="en-US" altLang="zh-CN" sz="2800" dirty="0"/>
              <a:t>                 finish-</a:t>
            </a:r>
          </a:p>
          <a:p>
            <a:pPr marL="0" indent="0">
              <a:buNone/>
            </a:pPr>
            <a:r>
              <a:rPr lang="en-US" altLang="zh-CN" sz="2800" dirty="0"/>
              <a:t>                 abandon-</a:t>
            </a:r>
          </a:p>
          <a:p>
            <a:pPr marL="0" indent="0">
              <a:buNone/>
            </a:pPr>
            <a:r>
              <a:rPr lang="en-US" altLang="zh-CN" dirty="0"/>
              <a:t>                </a:t>
            </a:r>
            <a:endParaRPr lang="zh-CN" altLang="en-US" dirty="0"/>
          </a:p>
        </p:txBody>
      </p:sp>
    </p:spTree>
    <p:extLst>
      <p:ext uri="{BB962C8B-B14F-4D97-AF65-F5344CB8AC3E}">
        <p14:creationId xmlns:p14="http://schemas.microsoft.com/office/powerpoint/2010/main" val="38460507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44485C-422C-57F3-6D13-D5E57832CD66}"/>
              </a:ext>
            </a:extLst>
          </p:cNvPr>
          <p:cNvSpPr>
            <a:spLocks noGrp="1"/>
          </p:cNvSpPr>
          <p:nvPr>
            <p:ph type="title"/>
          </p:nvPr>
        </p:nvSpPr>
        <p:spPr>
          <a:xfrm>
            <a:off x="608400" y="71073"/>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7A272420-3237-30D5-CED8-87B3300754B9}"/>
              </a:ext>
            </a:extLst>
          </p:cNvPr>
          <p:cNvSpPr>
            <a:spLocks noGrp="1"/>
          </p:cNvSpPr>
          <p:nvPr>
            <p:ph idx="1"/>
          </p:nvPr>
        </p:nvSpPr>
        <p:spPr/>
        <p:txBody>
          <a:bodyPr/>
          <a:lstStyle/>
          <a:p>
            <a:pPr marL="0" indent="0">
              <a:buNone/>
            </a:pPr>
            <a:r>
              <a:rPr lang="zh-CN" altLang="en-US" dirty="0"/>
              <a:t>主题相关词汇（有的放矢）：</a:t>
            </a:r>
            <a:endParaRPr lang="en-US" altLang="zh-CN" dirty="0"/>
          </a:p>
          <a:p>
            <a:pPr marL="0" indent="0">
              <a:buNone/>
            </a:pPr>
            <a:r>
              <a:rPr lang="en-US" altLang="zh-CN" dirty="0"/>
              <a:t>EAP</a:t>
            </a:r>
            <a:r>
              <a:rPr lang="zh-CN" altLang="en-US" dirty="0"/>
              <a:t>考试包括的几个主题是非常局限的，在刷过一定量真题后，应当总结出几个大主题，并背诵主题相关词汇</a:t>
            </a:r>
            <a:endParaRPr lang="en-US" altLang="zh-CN" dirty="0"/>
          </a:p>
          <a:p>
            <a:pPr marL="0" indent="0">
              <a:buNone/>
            </a:pPr>
            <a:r>
              <a:rPr lang="zh-CN" altLang="en-US" dirty="0"/>
              <a:t>如，</a:t>
            </a:r>
          </a:p>
        </p:txBody>
      </p:sp>
      <p:pic>
        <p:nvPicPr>
          <p:cNvPr id="4" name="图片 3">
            <a:extLst>
              <a:ext uri="{FF2B5EF4-FFF2-40B4-BE49-F238E27FC236}">
                <a16:creationId xmlns:a16="http://schemas.microsoft.com/office/drawing/2014/main" id="{F5B678B8-9BE7-E5A6-F272-5ACDDBE3A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440" y="3542543"/>
            <a:ext cx="11755119" cy="2020214"/>
          </a:xfrm>
          <a:prstGeom prst="rect">
            <a:avLst/>
          </a:prstGeom>
        </p:spPr>
      </p:pic>
    </p:spTree>
    <p:extLst>
      <p:ext uri="{BB962C8B-B14F-4D97-AF65-F5344CB8AC3E}">
        <p14:creationId xmlns:p14="http://schemas.microsoft.com/office/powerpoint/2010/main" val="11101720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28BD41-D7B7-B134-D8CF-3478112BCFBF}"/>
              </a:ext>
            </a:extLst>
          </p:cNvPr>
          <p:cNvSpPr>
            <a:spLocks noGrp="1"/>
          </p:cNvSpPr>
          <p:nvPr>
            <p:ph type="title"/>
          </p:nvPr>
        </p:nvSpPr>
        <p:spPr>
          <a:xfrm>
            <a:off x="608400" y="118207"/>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AE7097CF-0403-535D-2CCB-7CAF104F24FC}"/>
              </a:ext>
            </a:extLst>
          </p:cNvPr>
          <p:cNvSpPr>
            <a:spLocks noGrp="1"/>
          </p:cNvSpPr>
          <p:nvPr>
            <p:ph idx="1"/>
          </p:nvPr>
        </p:nvSpPr>
        <p:spPr/>
        <p:txBody>
          <a:bodyPr/>
          <a:lstStyle/>
          <a:p>
            <a:pPr marL="0" indent="0">
              <a:buNone/>
            </a:pPr>
            <a:r>
              <a:rPr lang="zh-CN" altLang="en-US" dirty="0"/>
              <a:t>这个题目是（青少年）犯罪</a:t>
            </a:r>
            <a:r>
              <a:rPr lang="en-US" altLang="zh-CN" dirty="0">
                <a:solidFill>
                  <a:srgbClr val="FF0000"/>
                </a:solidFill>
              </a:rPr>
              <a:t>(Ethics)</a:t>
            </a:r>
            <a:r>
              <a:rPr lang="zh-CN" altLang="en-US" dirty="0"/>
              <a:t>相关的题目，如果背诵了主题相关词汇，如：</a:t>
            </a:r>
            <a:endParaRPr lang="en-US" altLang="zh-CN" dirty="0"/>
          </a:p>
          <a:p>
            <a:pPr marL="0" indent="0">
              <a:buNone/>
            </a:pPr>
            <a:r>
              <a:rPr lang="en-US" altLang="zh-CN" dirty="0"/>
              <a:t>Juvenile delinquency </a:t>
            </a:r>
            <a:r>
              <a:rPr lang="zh-CN" altLang="en-US" dirty="0"/>
              <a:t>青少年犯罪   </a:t>
            </a:r>
            <a:r>
              <a:rPr lang="en-US" altLang="zh-CN" dirty="0"/>
              <a:t>commit crime </a:t>
            </a:r>
            <a:r>
              <a:rPr lang="zh-CN" altLang="en-US" dirty="0"/>
              <a:t>犯罪   </a:t>
            </a:r>
            <a:r>
              <a:rPr lang="en-US" altLang="zh-CN" dirty="0"/>
              <a:t>sentence </a:t>
            </a:r>
            <a:r>
              <a:rPr lang="zh-CN" altLang="en-US" dirty="0"/>
              <a:t>刑期</a:t>
            </a:r>
            <a:endParaRPr lang="en-US" altLang="zh-CN" dirty="0"/>
          </a:p>
          <a:p>
            <a:pPr marL="0" indent="0">
              <a:buNone/>
            </a:pPr>
            <a:r>
              <a:rPr lang="en-US" altLang="zh-CN" dirty="0"/>
              <a:t>Exemption  </a:t>
            </a:r>
            <a:r>
              <a:rPr lang="zh-CN" altLang="en-US" dirty="0"/>
              <a:t>豁免      </a:t>
            </a:r>
            <a:r>
              <a:rPr lang="en-US" altLang="zh-CN" dirty="0"/>
              <a:t>jurisprudence </a:t>
            </a:r>
            <a:r>
              <a:rPr lang="zh-CN" altLang="en-US" dirty="0"/>
              <a:t>法院审判流程</a:t>
            </a:r>
            <a:endParaRPr lang="en-US" altLang="zh-CN" dirty="0"/>
          </a:p>
          <a:p>
            <a:pPr marL="0" indent="0">
              <a:buNone/>
            </a:pPr>
            <a:r>
              <a:rPr lang="zh-CN" altLang="en-US" dirty="0"/>
              <a:t>再加以恰当使用，会让考官认为你有足够多的词汇量应对各类主题，是一个非常大的加分项。</a:t>
            </a:r>
            <a:endParaRPr lang="en-US" altLang="zh-CN" dirty="0"/>
          </a:p>
          <a:p>
            <a:pPr marL="0" indent="0">
              <a:buNone/>
            </a:pPr>
            <a:endParaRPr lang="en-US" altLang="zh-CN" dirty="0"/>
          </a:p>
          <a:p>
            <a:pPr marL="0" indent="0">
              <a:buNone/>
            </a:pPr>
            <a:r>
              <a:rPr lang="zh-CN" altLang="en-US" dirty="0"/>
              <a:t>常出现的主题包括但不限于： 教育、医疗、环境保护、动物保护、犯罪、司法正义、</a:t>
            </a:r>
            <a:endParaRPr lang="en-US" altLang="zh-CN" dirty="0"/>
          </a:p>
          <a:p>
            <a:pPr marL="0" indent="0">
              <a:buNone/>
            </a:pPr>
            <a:r>
              <a:rPr lang="en-US" altLang="zh-CN" dirty="0"/>
              <a:t> </a:t>
            </a:r>
            <a:r>
              <a:rPr lang="zh-CN" altLang="en-US" dirty="0"/>
              <a:t>科技、道德、交通、城市规划、文化多样性、国际化视野等。</a:t>
            </a:r>
            <a:endParaRPr lang="en-US" altLang="zh-CN" dirty="0"/>
          </a:p>
          <a:p>
            <a:pPr marL="0" indent="0">
              <a:buNone/>
            </a:pPr>
            <a:r>
              <a:rPr lang="zh-CN" altLang="en-US" dirty="0"/>
              <a:t>虽然主题看起来多且杂，但做多题就会发现，每个主题的角度相对单一和固定。如科技主题大概率会问你一个新科技的进步性与对于传统事物、文化的冲击之间的矛盾。</a:t>
            </a:r>
            <a:endParaRPr lang="en-US" altLang="zh-CN" dirty="0"/>
          </a:p>
        </p:txBody>
      </p:sp>
    </p:spTree>
    <p:extLst>
      <p:ext uri="{BB962C8B-B14F-4D97-AF65-F5344CB8AC3E}">
        <p14:creationId xmlns:p14="http://schemas.microsoft.com/office/powerpoint/2010/main" val="970384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EFA5A7-0DD0-9FD3-E805-D21055408083}"/>
              </a:ext>
            </a:extLst>
          </p:cNvPr>
          <p:cNvSpPr>
            <a:spLocks noGrp="1"/>
          </p:cNvSpPr>
          <p:nvPr>
            <p:ph type="title"/>
          </p:nvPr>
        </p:nvSpPr>
        <p:spPr>
          <a:xfrm>
            <a:off x="608400" y="119115"/>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10FEDB4B-5E60-3630-81BD-70BB3C3634EC}"/>
              </a:ext>
            </a:extLst>
          </p:cNvPr>
          <p:cNvSpPr>
            <a:spLocks noGrp="1"/>
          </p:cNvSpPr>
          <p:nvPr>
            <p:ph idx="1"/>
          </p:nvPr>
        </p:nvSpPr>
        <p:spPr>
          <a:xfrm>
            <a:off x="608400" y="1121432"/>
            <a:ext cx="10969200" cy="4759200"/>
          </a:xfrm>
        </p:spPr>
        <p:txBody>
          <a:bodyPr/>
          <a:lstStyle/>
          <a:p>
            <a:pPr marL="0" indent="0">
              <a:buNone/>
            </a:pPr>
            <a:r>
              <a:rPr lang="zh-CN" altLang="en-US" dirty="0"/>
              <a:t>以下是过去两个学期</a:t>
            </a:r>
            <a:r>
              <a:rPr lang="en-US" altLang="zh-CN" dirty="0"/>
              <a:t>EAP</a:t>
            </a:r>
          </a:p>
          <a:p>
            <a:pPr marL="0" indent="0">
              <a:buNone/>
            </a:pPr>
            <a:r>
              <a:rPr lang="zh-CN" altLang="en-US" dirty="0"/>
              <a:t>课上所涉及到的主题</a:t>
            </a:r>
          </a:p>
        </p:txBody>
      </p:sp>
      <p:pic>
        <p:nvPicPr>
          <p:cNvPr id="5" name="图片 4">
            <a:extLst>
              <a:ext uri="{FF2B5EF4-FFF2-40B4-BE49-F238E27FC236}">
                <a16:creationId xmlns:a16="http://schemas.microsoft.com/office/drawing/2014/main" id="{700FB54D-F471-3596-943F-6E033F5928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0861" y="977368"/>
            <a:ext cx="1592718" cy="5636704"/>
          </a:xfrm>
          <a:prstGeom prst="rect">
            <a:avLst/>
          </a:prstGeom>
        </p:spPr>
      </p:pic>
      <p:pic>
        <p:nvPicPr>
          <p:cNvPr id="7" name="图片 6">
            <a:extLst>
              <a:ext uri="{FF2B5EF4-FFF2-40B4-BE49-F238E27FC236}">
                <a16:creationId xmlns:a16="http://schemas.microsoft.com/office/drawing/2014/main" id="{CAC4B8FC-C09E-0717-B8A4-8739F5FCE5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4597" y="824715"/>
            <a:ext cx="1920406" cy="5883150"/>
          </a:xfrm>
          <a:prstGeom prst="rect">
            <a:avLst/>
          </a:prstGeom>
        </p:spPr>
      </p:pic>
    </p:spTree>
    <p:extLst>
      <p:ext uri="{BB962C8B-B14F-4D97-AF65-F5344CB8AC3E}">
        <p14:creationId xmlns:p14="http://schemas.microsoft.com/office/powerpoint/2010/main" val="3797328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E1C274-9F4D-040D-6FBA-B4CB60974964}"/>
              </a:ext>
            </a:extLst>
          </p:cNvPr>
          <p:cNvSpPr>
            <a:spLocks noGrp="1"/>
          </p:cNvSpPr>
          <p:nvPr>
            <p:ph type="title"/>
          </p:nvPr>
        </p:nvSpPr>
        <p:spPr>
          <a:xfrm>
            <a:off x="608400" y="155914"/>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4E796E96-B73C-5893-365B-21C1A4DBC9BF}"/>
              </a:ext>
            </a:extLst>
          </p:cNvPr>
          <p:cNvSpPr>
            <a:spLocks noGrp="1"/>
          </p:cNvSpPr>
          <p:nvPr>
            <p:ph idx="1"/>
          </p:nvPr>
        </p:nvSpPr>
        <p:spPr>
          <a:xfrm>
            <a:off x="608400" y="1416390"/>
            <a:ext cx="11363641" cy="5344033"/>
          </a:xfrm>
        </p:spPr>
        <p:txBody>
          <a:bodyPr/>
          <a:lstStyle/>
          <a:p>
            <a:pPr marL="0" indent="0">
              <a:buNone/>
            </a:pPr>
            <a:r>
              <a:rPr lang="zh-CN" altLang="en-US" dirty="0"/>
              <a:t>被动语态、句间介词和连接词相对更受欢迎，而虚拟语态、较为复杂和混乱的时态并不太受待见。同时，应当注意长短句的结合，避免长难句堆砌</a:t>
            </a:r>
            <a:endParaRPr lang="en-US" altLang="zh-CN" dirty="0"/>
          </a:p>
          <a:p>
            <a:pPr marL="0" indent="0">
              <a:buNone/>
            </a:pPr>
            <a:r>
              <a:rPr lang="zh-CN" altLang="en-US" dirty="0"/>
              <a:t>主</a:t>
            </a:r>
            <a:r>
              <a:rPr lang="en-US" altLang="zh-CN" dirty="0"/>
              <a:t>/</a:t>
            </a:r>
            <a:r>
              <a:rPr lang="zh-CN" altLang="en-US" dirty="0"/>
              <a:t>被动语态对比：</a:t>
            </a:r>
            <a:endParaRPr lang="en-US" altLang="zh-CN" dirty="0"/>
          </a:p>
          <a:p>
            <a:pPr marL="0" indent="0">
              <a:buNone/>
            </a:pPr>
            <a:r>
              <a:rPr lang="en-US" altLang="zh-CN" dirty="0"/>
              <a:t>Most people in this country welcome this new policy.</a:t>
            </a:r>
          </a:p>
          <a:p>
            <a:pPr marL="0" indent="0">
              <a:buNone/>
            </a:pPr>
            <a:r>
              <a:rPr lang="en-US" altLang="zh-CN" dirty="0"/>
              <a:t>The new policy has been welcomed by the majority of people.</a:t>
            </a:r>
          </a:p>
          <a:p>
            <a:pPr marL="0" indent="0">
              <a:buNone/>
            </a:pPr>
            <a:endParaRPr lang="en-US" altLang="zh-CN" dirty="0"/>
          </a:p>
          <a:p>
            <a:pPr marL="0" indent="0">
              <a:buNone/>
            </a:pPr>
            <a:r>
              <a:rPr lang="en-US" altLang="zh-CN" dirty="0"/>
              <a:t>A wide range of people know the fact that aerial littering is illegal.</a:t>
            </a:r>
          </a:p>
          <a:p>
            <a:pPr marL="0" indent="0">
              <a:buNone/>
            </a:pPr>
            <a:r>
              <a:rPr lang="en-US" altLang="zh-CN" dirty="0"/>
              <a:t>It is widely known that aerial littering is illegal.</a:t>
            </a:r>
          </a:p>
          <a:p>
            <a:pPr marL="0" indent="0">
              <a:buNone/>
            </a:pPr>
            <a:r>
              <a:rPr lang="zh-CN" altLang="en-US" dirty="0"/>
              <a:t>从上例可以看出，被动语态明显更具有官方性、严谨性、客观性。</a:t>
            </a:r>
          </a:p>
        </p:txBody>
      </p:sp>
    </p:spTree>
    <p:extLst>
      <p:ext uri="{BB962C8B-B14F-4D97-AF65-F5344CB8AC3E}">
        <p14:creationId xmlns:p14="http://schemas.microsoft.com/office/powerpoint/2010/main" val="39511566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866F53-BD51-A8DC-C19D-AC19C8FA2DFA}"/>
              </a:ext>
            </a:extLst>
          </p:cNvPr>
          <p:cNvSpPr>
            <a:spLocks noGrp="1"/>
          </p:cNvSpPr>
          <p:nvPr>
            <p:ph type="title"/>
          </p:nvPr>
        </p:nvSpPr>
        <p:spPr>
          <a:xfrm>
            <a:off x="608400" y="135158"/>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D1702C8E-3339-EE25-0FAA-5104F2F33D3E}"/>
              </a:ext>
            </a:extLst>
          </p:cNvPr>
          <p:cNvSpPr>
            <a:spLocks noGrp="1"/>
          </p:cNvSpPr>
          <p:nvPr>
            <p:ph idx="1"/>
          </p:nvPr>
        </p:nvSpPr>
        <p:spPr>
          <a:xfrm>
            <a:off x="608400" y="2035831"/>
            <a:ext cx="10969200" cy="4759200"/>
          </a:xfrm>
        </p:spPr>
        <p:txBody>
          <a:bodyPr/>
          <a:lstStyle/>
          <a:p>
            <a:pPr marL="0" indent="0">
              <a:buNone/>
            </a:pPr>
            <a:r>
              <a:rPr lang="en-US" altLang="zh-CN" sz="3200" dirty="0"/>
              <a:t>Scientists find it hard to prove such hypothesis.</a:t>
            </a:r>
          </a:p>
          <a:p>
            <a:pPr marL="0" indent="0">
              <a:buNone/>
            </a:pPr>
            <a:endParaRPr lang="en-US" altLang="zh-CN" sz="3200" dirty="0"/>
          </a:p>
          <a:p>
            <a:pPr marL="0" indent="0">
              <a:buNone/>
            </a:pPr>
            <a:r>
              <a:rPr lang="en-US" altLang="zh-CN" sz="3200" dirty="0"/>
              <a:t>The government should put this policy into practice.</a:t>
            </a:r>
          </a:p>
          <a:p>
            <a:pPr marL="0" indent="0">
              <a:buNone/>
            </a:pPr>
            <a:endParaRPr lang="zh-CN" altLang="en-US" dirty="0"/>
          </a:p>
        </p:txBody>
      </p:sp>
    </p:spTree>
    <p:extLst>
      <p:ext uri="{BB962C8B-B14F-4D97-AF65-F5344CB8AC3E}">
        <p14:creationId xmlns:p14="http://schemas.microsoft.com/office/powerpoint/2010/main" val="12677281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8410AD-D72A-16B0-817E-B478C18C4EC8}"/>
              </a:ext>
            </a:extLst>
          </p:cNvPr>
          <p:cNvSpPr>
            <a:spLocks noGrp="1"/>
          </p:cNvSpPr>
          <p:nvPr>
            <p:ph type="title"/>
          </p:nvPr>
        </p:nvSpPr>
        <p:spPr>
          <a:xfrm>
            <a:off x="608400" y="146486"/>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33FA1ADA-E217-AF2D-4846-20CECD4F4E25}"/>
              </a:ext>
            </a:extLst>
          </p:cNvPr>
          <p:cNvSpPr>
            <a:spLocks noGrp="1"/>
          </p:cNvSpPr>
          <p:nvPr>
            <p:ph idx="1"/>
          </p:nvPr>
        </p:nvSpPr>
        <p:spPr/>
        <p:txBody>
          <a:bodyPr/>
          <a:lstStyle/>
          <a:p>
            <a:pPr marL="0" indent="0">
              <a:buNone/>
            </a:pPr>
            <a:r>
              <a:rPr lang="zh-CN" altLang="en-US" dirty="0"/>
              <a:t>句间关系词是文章逻辑的重要体现，这点也在之前的范文中反复强调。</a:t>
            </a:r>
            <a:endParaRPr lang="en-US" altLang="zh-CN" dirty="0"/>
          </a:p>
          <a:p>
            <a:pPr marL="0" indent="0">
              <a:buNone/>
            </a:pPr>
            <a:r>
              <a:rPr lang="zh-CN" altLang="en-US" dirty="0"/>
              <a:t>表顺承：</a:t>
            </a:r>
            <a:endParaRPr lang="en-US" altLang="zh-CN" dirty="0"/>
          </a:p>
          <a:p>
            <a:pPr marL="0" indent="0">
              <a:buNone/>
            </a:pPr>
            <a:r>
              <a:rPr lang="en-US" altLang="zh-CN" dirty="0"/>
              <a:t>Furthermore,  Moreover,  Additionally, Similarly, Likewise, </a:t>
            </a:r>
          </a:p>
          <a:p>
            <a:pPr marL="0" indent="0">
              <a:buNone/>
            </a:pPr>
            <a:r>
              <a:rPr lang="zh-CN" altLang="en-US" dirty="0"/>
              <a:t>表转折：</a:t>
            </a:r>
            <a:endParaRPr lang="en-US" altLang="zh-CN" dirty="0"/>
          </a:p>
          <a:p>
            <a:pPr marL="0" indent="0">
              <a:buNone/>
            </a:pPr>
            <a:r>
              <a:rPr lang="en-US" altLang="zh-CN" dirty="0"/>
              <a:t>However, yet, though, nevertheless, despite, whereas, nonetheless</a:t>
            </a:r>
          </a:p>
          <a:p>
            <a:pPr marL="0" indent="0">
              <a:buNone/>
            </a:pPr>
            <a:r>
              <a:rPr lang="zh-CN" altLang="en-US" dirty="0"/>
              <a:t>表原因：</a:t>
            </a:r>
            <a:endParaRPr lang="en-US" altLang="zh-CN" dirty="0"/>
          </a:p>
          <a:p>
            <a:pPr marL="0" indent="0">
              <a:buNone/>
            </a:pPr>
            <a:r>
              <a:rPr lang="en-US" altLang="zh-CN" dirty="0"/>
              <a:t>Because, since, due to, as</a:t>
            </a:r>
          </a:p>
        </p:txBody>
      </p:sp>
    </p:spTree>
    <p:extLst>
      <p:ext uri="{BB962C8B-B14F-4D97-AF65-F5344CB8AC3E}">
        <p14:creationId xmlns:p14="http://schemas.microsoft.com/office/powerpoint/2010/main" val="3012489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5D976-9EE0-EDF4-A9F5-5DF731E73DBF}"/>
              </a:ext>
            </a:extLst>
          </p:cNvPr>
          <p:cNvSpPr>
            <a:spLocks noGrp="1"/>
          </p:cNvSpPr>
          <p:nvPr>
            <p:ph type="title"/>
          </p:nvPr>
        </p:nvSpPr>
        <p:spPr>
          <a:xfrm>
            <a:off x="608400" y="127633"/>
            <a:ext cx="10969200" cy="705600"/>
          </a:xfrm>
        </p:spPr>
        <p:txBody>
          <a:bodyPr/>
          <a:lstStyle/>
          <a:p>
            <a:r>
              <a:rPr lang="zh-CN" altLang="en-US" dirty="0"/>
              <a:t>遣词造句</a:t>
            </a:r>
          </a:p>
        </p:txBody>
      </p:sp>
      <p:sp>
        <p:nvSpPr>
          <p:cNvPr id="3" name="内容占位符 2">
            <a:extLst>
              <a:ext uri="{FF2B5EF4-FFF2-40B4-BE49-F238E27FC236}">
                <a16:creationId xmlns:a16="http://schemas.microsoft.com/office/drawing/2014/main" id="{62F81630-0F20-C4E7-A2B2-AB578CE7482A}"/>
              </a:ext>
            </a:extLst>
          </p:cNvPr>
          <p:cNvSpPr>
            <a:spLocks noGrp="1"/>
          </p:cNvSpPr>
          <p:nvPr>
            <p:ph idx="1"/>
          </p:nvPr>
        </p:nvSpPr>
        <p:spPr/>
        <p:txBody>
          <a:bodyPr/>
          <a:lstStyle/>
          <a:p>
            <a:pPr marL="0" indent="0">
              <a:buNone/>
            </a:pPr>
            <a:r>
              <a:rPr lang="zh-CN" altLang="en-US" dirty="0"/>
              <a:t>其他值得记忆的连接词：</a:t>
            </a:r>
            <a:endParaRPr lang="en-US" altLang="zh-CN" dirty="0"/>
          </a:p>
          <a:p>
            <a:pPr marL="0" indent="0">
              <a:buNone/>
            </a:pPr>
            <a:r>
              <a:rPr lang="en-US" altLang="zh-CN" dirty="0"/>
              <a:t>Such is… ,      Imaginably,  namely,   primarily,  …is that</a:t>
            </a:r>
          </a:p>
          <a:p>
            <a:pPr marL="0" indent="0">
              <a:buNone/>
            </a:pPr>
            <a:endParaRPr lang="en-US" altLang="zh-CN" dirty="0"/>
          </a:p>
          <a:p>
            <a:pPr marL="0" indent="0">
              <a:buNone/>
            </a:pPr>
            <a:r>
              <a:rPr lang="zh-CN" altLang="en-US" dirty="0"/>
              <a:t>你还能想到哪些句间关联词？</a:t>
            </a:r>
          </a:p>
        </p:txBody>
      </p:sp>
    </p:spTree>
    <p:extLst>
      <p:ext uri="{BB962C8B-B14F-4D97-AF65-F5344CB8AC3E}">
        <p14:creationId xmlns:p14="http://schemas.microsoft.com/office/powerpoint/2010/main" val="22548434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8D609-2DE7-0D26-BE2A-EE496274B2D9}"/>
              </a:ext>
            </a:extLst>
          </p:cNvPr>
          <p:cNvSpPr>
            <a:spLocks noGrp="1"/>
          </p:cNvSpPr>
          <p:nvPr>
            <p:ph type="title"/>
          </p:nvPr>
        </p:nvSpPr>
        <p:spPr>
          <a:xfrm>
            <a:off x="608400" y="103074"/>
            <a:ext cx="10969200" cy="705600"/>
          </a:xfrm>
        </p:spPr>
        <p:txBody>
          <a:bodyPr/>
          <a:lstStyle/>
          <a:p>
            <a:r>
              <a:rPr lang="zh-CN" altLang="en-US" dirty="0"/>
              <a:t>遣词造句</a:t>
            </a:r>
            <a:endParaRPr lang="zh-CN" altLang="en-US" b="0" dirty="0"/>
          </a:p>
        </p:txBody>
      </p:sp>
      <p:pic>
        <p:nvPicPr>
          <p:cNvPr id="5" name="内容占位符 4">
            <a:extLst>
              <a:ext uri="{FF2B5EF4-FFF2-40B4-BE49-F238E27FC236}">
                <a16:creationId xmlns:a16="http://schemas.microsoft.com/office/drawing/2014/main" id="{FB70C67E-0FB9-A241-DE07-6E488526BE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5812" y="1266073"/>
            <a:ext cx="6461101" cy="4759325"/>
          </a:xfrm>
        </p:spPr>
      </p:pic>
    </p:spTree>
    <p:extLst>
      <p:ext uri="{BB962C8B-B14F-4D97-AF65-F5344CB8AC3E}">
        <p14:creationId xmlns:p14="http://schemas.microsoft.com/office/powerpoint/2010/main" val="26760232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62808B-8D27-7BFC-3965-121656AA15D0}"/>
              </a:ext>
            </a:extLst>
          </p:cNvPr>
          <p:cNvSpPr>
            <a:spLocks noGrp="1"/>
          </p:cNvSpPr>
          <p:nvPr>
            <p:ph type="title"/>
          </p:nvPr>
        </p:nvSpPr>
        <p:spPr>
          <a:xfrm>
            <a:off x="608400" y="112455"/>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6D91336F-4AA8-CFAA-D269-D202089B02EE}"/>
              </a:ext>
            </a:extLst>
          </p:cNvPr>
          <p:cNvSpPr>
            <a:spLocks noGrp="1"/>
          </p:cNvSpPr>
          <p:nvPr>
            <p:ph idx="1"/>
          </p:nvPr>
        </p:nvSpPr>
        <p:spPr>
          <a:xfrm>
            <a:off x="608400" y="1219083"/>
            <a:ext cx="10969200" cy="4759200"/>
          </a:xfrm>
        </p:spPr>
        <p:txBody>
          <a:bodyPr>
            <a:normAutofit lnSpcReduction="10000"/>
          </a:bodyPr>
          <a:lstStyle/>
          <a:p>
            <a:pPr marL="0" indent="0">
              <a:buNone/>
            </a:pPr>
            <a:r>
              <a:rPr lang="en-US" altLang="zh-CN" dirty="0"/>
              <a:t>EAP</a:t>
            </a:r>
            <a:r>
              <a:rPr lang="zh-CN" altLang="en-US" dirty="0"/>
              <a:t>课本中建议的思考角度：</a:t>
            </a:r>
            <a:endParaRPr lang="en-US" altLang="zh-CN" dirty="0"/>
          </a:p>
          <a:p>
            <a:pPr marL="0" indent="0">
              <a:buNone/>
            </a:pPr>
            <a:r>
              <a:rPr lang="en-US" altLang="zh-CN" dirty="0">
                <a:solidFill>
                  <a:schemeClr val="accent1">
                    <a:lumMod val="75000"/>
                  </a:schemeClr>
                </a:solidFill>
                <a:highlight>
                  <a:srgbClr val="FFFF00"/>
                </a:highlight>
              </a:rPr>
              <a:t>Cause to Effect:</a:t>
            </a:r>
          </a:p>
          <a:p>
            <a:pPr marL="0" indent="0">
              <a:buNone/>
            </a:pPr>
            <a:r>
              <a:rPr lang="en-US" altLang="zh-CN" dirty="0"/>
              <a:t>e.g. In recent years, record numbers of tourists have visited scenic spots and national parks. </a:t>
            </a:r>
            <a:r>
              <a:rPr lang="en-US" altLang="zh-CN" dirty="0">
                <a:solidFill>
                  <a:srgbClr val="FF0000"/>
                </a:solidFill>
              </a:rPr>
              <a:t>This has led to… </a:t>
            </a:r>
            <a:r>
              <a:rPr lang="en-US" altLang="zh-CN" dirty="0"/>
              <a:t>increased pollution at tourist destinations and damage to environmentally sensitive areas.</a:t>
            </a:r>
          </a:p>
          <a:p>
            <a:pPr marL="0" indent="0">
              <a:buNone/>
            </a:pPr>
            <a:r>
              <a:rPr lang="en-US" altLang="zh-CN" dirty="0">
                <a:solidFill>
                  <a:schemeClr val="accent1">
                    <a:lumMod val="75000"/>
                  </a:schemeClr>
                </a:solidFill>
                <a:highlight>
                  <a:srgbClr val="FFFF00"/>
                </a:highlight>
              </a:rPr>
              <a:t>General to specific: </a:t>
            </a:r>
          </a:p>
          <a:p>
            <a:pPr marL="0" indent="0">
              <a:buNone/>
            </a:pPr>
            <a:r>
              <a:rPr lang="en-US" altLang="zh-CN" dirty="0"/>
              <a:t>e.g. In recent years, mass tourism has caused serious problems at popular destinations. </a:t>
            </a:r>
            <a:r>
              <a:rPr lang="en-US" altLang="zh-CN" dirty="0">
                <a:solidFill>
                  <a:srgbClr val="FF0000"/>
                </a:solidFill>
              </a:rPr>
              <a:t>To illustrate …</a:t>
            </a:r>
          </a:p>
          <a:p>
            <a:pPr marL="0" indent="0">
              <a:buNone/>
            </a:pPr>
            <a:r>
              <a:rPr lang="en-US" altLang="zh-CN" dirty="0">
                <a:solidFill>
                  <a:schemeClr val="accent1">
                    <a:lumMod val="75000"/>
                  </a:schemeClr>
                </a:solidFill>
                <a:highlight>
                  <a:srgbClr val="FFFF00"/>
                </a:highlight>
              </a:rPr>
              <a:t>Problem to solution:</a:t>
            </a:r>
          </a:p>
          <a:p>
            <a:pPr marL="0" indent="0">
              <a:buNone/>
            </a:pPr>
            <a:r>
              <a:rPr lang="en-US" altLang="zh-CN" dirty="0">
                <a:solidFill>
                  <a:schemeClr val="tx1"/>
                </a:solidFill>
              </a:rPr>
              <a:t>e.g. In recent years, increased tourism has caused more pollution in national parks and other scenic areas. In order to deal with this problem, </a:t>
            </a:r>
            <a:r>
              <a:rPr lang="en-US" altLang="zh-CN" dirty="0">
                <a:solidFill>
                  <a:srgbClr val="FF0000"/>
                </a:solidFill>
              </a:rPr>
              <a:t>environmentalists have proposed…</a:t>
            </a:r>
          </a:p>
          <a:p>
            <a:pPr marL="0" indent="0">
              <a:buNone/>
            </a:pPr>
            <a:endParaRPr lang="zh-CN" altLang="en-US" dirty="0">
              <a:solidFill>
                <a:schemeClr val="tx1"/>
              </a:solidFill>
            </a:endParaRPr>
          </a:p>
        </p:txBody>
      </p:sp>
    </p:spTree>
    <p:extLst>
      <p:ext uri="{BB962C8B-B14F-4D97-AF65-F5344CB8AC3E}">
        <p14:creationId xmlns:p14="http://schemas.microsoft.com/office/powerpoint/2010/main" val="34277376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F63A59-263B-EEEB-FEEC-DEA8F049BBAF}"/>
              </a:ext>
            </a:extLst>
          </p:cNvPr>
          <p:cNvSpPr>
            <a:spLocks noGrp="1"/>
          </p:cNvSpPr>
          <p:nvPr>
            <p:ph type="title"/>
          </p:nvPr>
        </p:nvSpPr>
        <p:spPr>
          <a:xfrm>
            <a:off x="608400" y="127633"/>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419CDD6F-F84E-5257-7D10-242E76923302}"/>
              </a:ext>
            </a:extLst>
          </p:cNvPr>
          <p:cNvSpPr>
            <a:spLocks noGrp="1"/>
          </p:cNvSpPr>
          <p:nvPr>
            <p:ph idx="1"/>
          </p:nvPr>
        </p:nvSpPr>
        <p:spPr/>
        <p:txBody>
          <a:bodyPr/>
          <a:lstStyle/>
          <a:p>
            <a:pPr marL="0" indent="0">
              <a:buNone/>
            </a:pPr>
            <a:r>
              <a:rPr lang="zh-CN" altLang="en-US" dirty="0"/>
              <a:t>其他具有逻辑深度的思考方式：</a:t>
            </a:r>
            <a:endParaRPr lang="en-US" altLang="zh-CN" dirty="0"/>
          </a:p>
          <a:p>
            <a:pPr marL="0" indent="0">
              <a:buNone/>
            </a:pPr>
            <a:r>
              <a:rPr lang="zh-CN" altLang="en-US" dirty="0"/>
              <a:t>在拿到题目后应该做的第二件事就是快速思考出</a:t>
            </a:r>
            <a:r>
              <a:rPr lang="en-US" altLang="zh-CN" dirty="0"/>
              <a:t>2-3</a:t>
            </a:r>
            <a:r>
              <a:rPr lang="zh-CN" altLang="en-US" dirty="0"/>
              <a:t>个能够很好佐证中心论点的分论点。</a:t>
            </a:r>
            <a:endParaRPr lang="en-US" altLang="zh-CN" dirty="0"/>
          </a:p>
          <a:p>
            <a:pPr marL="0" indent="0">
              <a:buNone/>
            </a:pPr>
            <a:r>
              <a:rPr lang="zh-CN" altLang="en-US" dirty="0"/>
              <a:t>常见的几种思考方式是：个人</a:t>
            </a:r>
            <a:r>
              <a:rPr lang="en-US" altLang="zh-CN" dirty="0"/>
              <a:t>-</a:t>
            </a:r>
            <a:r>
              <a:rPr lang="zh-CN" altLang="en-US" dirty="0"/>
              <a:t>社会</a:t>
            </a:r>
            <a:r>
              <a:rPr lang="en-US" altLang="zh-CN" dirty="0"/>
              <a:t>/</a:t>
            </a:r>
            <a:r>
              <a:rPr lang="zh-CN" altLang="en-US" dirty="0"/>
              <a:t>公司</a:t>
            </a:r>
            <a:r>
              <a:rPr lang="en-US" altLang="zh-CN" dirty="0"/>
              <a:t>-</a:t>
            </a:r>
            <a:r>
              <a:rPr lang="zh-CN" altLang="en-US" dirty="0"/>
              <a:t>政府</a:t>
            </a:r>
            <a:r>
              <a:rPr lang="en-US" altLang="zh-CN" dirty="0"/>
              <a:t>/</a:t>
            </a:r>
            <a:r>
              <a:rPr lang="zh-CN" altLang="en-US" dirty="0"/>
              <a:t>政策   应该怎么做</a:t>
            </a:r>
            <a:endParaRPr lang="en-US" altLang="zh-CN" dirty="0"/>
          </a:p>
          <a:p>
            <a:pPr marL="0" indent="0">
              <a:buNone/>
            </a:pPr>
            <a:r>
              <a:rPr lang="en-US" altLang="zh-CN" dirty="0"/>
              <a:t>                                 </a:t>
            </a:r>
            <a:r>
              <a:rPr lang="zh-CN" altLang="en-US" dirty="0"/>
              <a:t>过去</a:t>
            </a:r>
            <a:r>
              <a:rPr lang="en-US" altLang="zh-CN" dirty="0"/>
              <a:t>-</a:t>
            </a:r>
            <a:r>
              <a:rPr lang="zh-CN" altLang="en-US" dirty="0"/>
              <a:t>现在</a:t>
            </a:r>
            <a:r>
              <a:rPr lang="en-US" altLang="zh-CN" dirty="0"/>
              <a:t>-</a:t>
            </a:r>
            <a:r>
              <a:rPr lang="zh-CN" altLang="en-US" dirty="0"/>
              <a:t>未来                 有什么区别</a:t>
            </a:r>
            <a:endParaRPr lang="en-US" altLang="zh-CN" dirty="0"/>
          </a:p>
          <a:p>
            <a:pPr marL="0" indent="0">
              <a:buNone/>
            </a:pPr>
            <a:r>
              <a:rPr lang="en-US" altLang="zh-CN" dirty="0"/>
              <a:t>                                 </a:t>
            </a:r>
            <a:r>
              <a:rPr lang="zh-CN" altLang="en-US" dirty="0"/>
              <a:t>对环境</a:t>
            </a:r>
            <a:r>
              <a:rPr lang="en-US" altLang="zh-CN" dirty="0"/>
              <a:t>-</a:t>
            </a:r>
            <a:r>
              <a:rPr lang="zh-CN" altLang="en-US" dirty="0"/>
              <a:t>经济利益</a:t>
            </a:r>
            <a:r>
              <a:rPr lang="en-US" altLang="zh-CN" dirty="0"/>
              <a:t>-</a:t>
            </a:r>
            <a:r>
              <a:rPr lang="zh-CN" altLang="en-US" dirty="0"/>
              <a:t>道德</a:t>
            </a:r>
            <a:r>
              <a:rPr lang="en-US" altLang="zh-CN" dirty="0"/>
              <a:t>-</a:t>
            </a:r>
            <a:r>
              <a:rPr lang="zh-CN" altLang="en-US" dirty="0"/>
              <a:t>社会   有什么影响</a:t>
            </a:r>
            <a:endParaRPr lang="en-US" altLang="zh-CN" dirty="0"/>
          </a:p>
          <a:p>
            <a:pPr marL="0" indent="0">
              <a:buNone/>
            </a:pPr>
            <a:r>
              <a:rPr lang="en-US" altLang="zh-CN" dirty="0"/>
              <a:t>			</a:t>
            </a:r>
            <a:r>
              <a:rPr lang="zh-CN" altLang="en-US" dirty="0"/>
              <a:t>其余</a:t>
            </a:r>
            <a:r>
              <a:rPr lang="en-US" altLang="zh-CN" dirty="0"/>
              <a:t>scatter points</a:t>
            </a:r>
            <a:r>
              <a:rPr lang="zh-CN" altLang="en-US" dirty="0"/>
              <a:t>： </a:t>
            </a:r>
            <a:r>
              <a:rPr lang="en-US" altLang="zh-CN" dirty="0"/>
              <a:t>NGO</a:t>
            </a:r>
            <a:r>
              <a:rPr lang="zh-CN" altLang="en-US" dirty="0"/>
              <a:t>，媒体，父母</a:t>
            </a:r>
            <a:r>
              <a:rPr lang="en-US" altLang="zh-CN" dirty="0"/>
              <a:t>/</a:t>
            </a:r>
            <a:r>
              <a:rPr lang="zh-CN" altLang="en-US" dirty="0"/>
              <a:t>家人</a:t>
            </a:r>
            <a:endParaRPr lang="en-US" altLang="zh-CN" dirty="0"/>
          </a:p>
          <a:p>
            <a:pPr marL="0" indent="0">
              <a:buNone/>
            </a:pPr>
            <a:endParaRPr lang="en-US" altLang="zh-CN" dirty="0"/>
          </a:p>
          <a:p>
            <a:pPr marL="0" indent="0">
              <a:buNone/>
            </a:pPr>
            <a:r>
              <a:rPr lang="zh-CN" altLang="en-US" dirty="0"/>
              <a:t>思考时应该从纵向、横向都想一遍问题，哪个角度更便于自己发挥、看起来更具有说服力就选取哪个方向。</a:t>
            </a:r>
          </a:p>
        </p:txBody>
      </p:sp>
    </p:spTree>
    <p:extLst>
      <p:ext uri="{BB962C8B-B14F-4D97-AF65-F5344CB8AC3E}">
        <p14:creationId xmlns:p14="http://schemas.microsoft.com/office/powerpoint/2010/main" val="1842984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43C16-9631-0AA4-3ADD-3B6DF1902EBC}"/>
              </a:ext>
            </a:extLst>
          </p:cNvPr>
          <p:cNvSpPr>
            <a:spLocks noGrp="1"/>
          </p:cNvSpPr>
          <p:nvPr>
            <p:ph type="title"/>
          </p:nvPr>
        </p:nvSpPr>
        <p:spPr>
          <a:xfrm>
            <a:off x="608400" y="104547"/>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9B607BB1-5149-6DAE-C244-2EF5445383D8}"/>
              </a:ext>
            </a:extLst>
          </p:cNvPr>
          <p:cNvSpPr>
            <a:spLocks noGrp="1"/>
          </p:cNvSpPr>
          <p:nvPr>
            <p:ph idx="1"/>
          </p:nvPr>
        </p:nvSpPr>
        <p:spPr>
          <a:xfrm>
            <a:off x="3472898" y="1182491"/>
            <a:ext cx="10969200" cy="4759200"/>
          </a:xfrm>
        </p:spPr>
        <p:txBody>
          <a:bodyPr>
            <a:noAutofit/>
          </a:bodyPr>
          <a:lstStyle/>
          <a:p>
            <a:pPr marL="0" indent="0">
              <a:buNone/>
            </a:pPr>
            <a:r>
              <a:rPr lang="en-US" altLang="zh-CN" sz="2000" dirty="0"/>
              <a:t>Let’s dive into it deeper.</a:t>
            </a:r>
          </a:p>
          <a:p>
            <a:pPr marL="0" indent="0">
              <a:buNone/>
            </a:pPr>
            <a:r>
              <a:rPr lang="en-US" altLang="zh-CN" sz="2000" dirty="0"/>
              <a:t>Impacts on individuals:</a:t>
            </a:r>
          </a:p>
          <a:p>
            <a:pPr marL="0" indent="0">
              <a:buNone/>
            </a:pPr>
            <a:r>
              <a:rPr lang="en-US" altLang="zh-CN" sz="2000" dirty="0"/>
              <a:t>Physical health</a:t>
            </a:r>
          </a:p>
          <a:p>
            <a:pPr marL="0" indent="0">
              <a:buNone/>
            </a:pPr>
            <a:r>
              <a:rPr lang="en-US" altLang="zh-CN" sz="2000" dirty="0"/>
              <a:t>Mental health(Sense of belonging,</a:t>
            </a:r>
          </a:p>
          <a:p>
            <a:pPr marL="0" indent="0">
              <a:buNone/>
            </a:pPr>
            <a:r>
              <a:rPr lang="en-US" altLang="zh-CN" sz="2000" dirty="0"/>
              <a:t>Depression)</a:t>
            </a:r>
          </a:p>
          <a:p>
            <a:pPr marL="0" indent="0">
              <a:buNone/>
            </a:pPr>
            <a:r>
              <a:rPr lang="en-US" altLang="zh-CN" sz="2000" dirty="0"/>
              <a:t>Human rights</a:t>
            </a:r>
          </a:p>
          <a:p>
            <a:pPr marL="0" indent="0">
              <a:buNone/>
            </a:pPr>
            <a:r>
              <a:rPr lang="en-US" altLang="zh-CN" sz="2000" dirty="0"/>
              <a:t>Occupation</a:t>
            </a:r>
          </a:p>
          <a:p>
            <a:pPr marL="0" indent="0">
              <a:buNone/>
            </a:pPr>
            <a:r>
              <a:rPr lang="en-US" altLang="zh-CN" sz="2000" dirty="0"/>
              <a:t>Societal rule</a:t>
            </a:r>
          </a:p>
          <a:p>
            <a:pPr marL="0" indent="0">
              <a:buNone/>
            </a:pPr>
            <a:r>
              <a:rPr lang="en-US" altLang="zh-CN" sz="2000" dirty="0"/>
              <a:t>Financial background</a:t>
            </a:r>
          </a:p>
          <a:p>
            <a:pPr marL="0" indent="0">
              <a:buNone/>
            </a:pPr>
            <a:r>
              <a:rPr lang="en-US" altLang="zh-CN" sz="2000" dirty="0"/>
              <a:t>Educational background</a:t>
            </a:r>
          </a:p>
        </p:txBody>
      </p:sp>
    </p:spTree>
    <p:extLst>
      <p:ext uri="{BB962C8B-B14F-4D97-AF65-F5344CB8AC3E}">
        <p14:creationId xmlns:p14="http://schemas.microsoft.com/office/powerpoint/2010/main" val="5541656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024A76-6606-6311-4AEE-C98B23EA2A60}"/>
              </a:ext>
            </a:extLst>
          </p:cNvPr>
          <p:cNvSpPr>
            <a:spLocks noGrp="1"/>
          </p:cNvSpPr>
          <p:nvPr>
            <p:ph type="title"/>
          </p:nvPr>
        </p:nvSpPr>
        <p:spPr>
          <a:xfrm>
            <a:off x="608400" y="132538"/>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F8060A7C-82FA-6FC3-AEAB-DEBCB1477EFC}"/>
              </a:ext>
            </a:extLst>
          </p:cNvPr>
          <p:cNvSpPr>
            <a:spLocks noGrp="1"/>
          </p:cNvSpPr>
          <p:nvPr>
            <p:ph idx="1"/>
          </p:nvPr>
        </p:nvSpPr>
        <p:spPr>
          <a:xfrm>
            <a:off x="4023403" y="1565045"/>
            <a:ext cx="10969200" cy="4759200"/>
          </a:xfrm>
        </p:spPr>
        <p:txBody>
          <a:bodyPr/>
          <a:lstStyle/>
          <a:p>
            <a:pPr marL="0" indent="0">
              <a:buNone/>
            </a:pPr>
            <a:r>
              <a:rPr lang="en-US" altLang="zh-CN" sz="2400" dirty="0"/>
              <a:t>Impacts on the society:</a:t>
            </a:r>
          </a:p>
          <a:p>
            <a:pPr marL="0" indent="0">
              <a:buNone/>
            </a:pPr>
            <a:r>
              <a:rPr lang="en-US" altLang="zh-CN" sz="2400" dirty="0"/>
              <a:t>Cultural diversity</a:t>
            </a:r>
          </a:p>
          <a:p>
            <a:pPr marL="0" indent="0">
              <a:buNone/>
            </a:pPr>
            <a:r>
              <a:rPr lang="en-US" altLang="zh-CN" sz="2400" dirty="0"/>
              <a:t>Economy</a:t>
            </a:r>
          </a:p>
          <a:p>
            <a:pPr marL="0" indent="0">
              <a:buNone/>
            </a:pPr>
            <a:r>
              <a:rPr lang="en-US" altLang="zh-CN" sz="2400" dirty="0"/>
              <a:t>Politics</a:t>
            </a:r>
          </a:p>
          <a:p>
            <a:pPr marL="0" indent="0">
              <a:buNone/>
            </a:pPr>
            <a:r>
              <a:rPr lang="en-US" altLang="zh-CN" sz="2400" dirty="0"/>
              <a:t>Societal stability(National security)</a:t>
            </a:r>
          </a:p>
          <a:p>
            <a:pPr marL="0" indent="0">
              <a:buNone/>
            </a:pPr>
            <a:r>
              <a:rPr lang="en-US" altLang="zh-CN" sz="2400" dirty="0"/>
              <a:t>Reputation</a:t>
            </a:r>
          </a:p>
          <a:p>
            <a:pPr marL="0" indent="0">
              <a:buNone/>
            </a:pPr>
            <a:endParaRPr lang="en-US" altLang="zh-CN" dirty="0"/>
          </a:p>
        </p:txBody>
      </p:sp>
    </p:spTree>
    <p:extLst>
      <p:ext uri="{BB962C8B-B14F-4D97-AF65-F5344CB8AC3E}">
        <p14:creationId xmlns:p14="http://schemas.microsoft.com/office/powerpoint/2010/main" val="19113375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407262-D355-E97C-4201-6ED65E5E1EDA}"/>
              </a:ext>
            </a:extLst>
          </p:cNvPr>
          <p:cNvSpPr>
            <a:spLocks noGrp="1"/>
          </p:cNvSpPr>
          <p:nvPr>
            <p:ph type="title"/>
          </p:nvPr>
        </p:nvSpPr>
        <p:spPr>
          <a:xfrm>
            <a:off x="608400" y="108780"/>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6547CC8A-9856-EF65-CCA7-323F08E8F340}"/>
              </a:ext>
            </a:extLst>
          </p:cNvPr>
          <p:cNvSpPr>
            <a:spLocks noGrp="1"/>
          </p:cNvSpPr>
          <p:nvPr>
            <p:ph idx="1"/>
          </p:nvPr>
        </p:nvSpPr>
        <p:spPr>
          <a:xfrm>
            <a:off x="436962" y="2769952"/>
            <a:ext cx="10969200" cy="4759200"/>
          </a:xfrm>
        </p:spPr>
        <p:txBody>
          <a:bodyPr/>
          <a:lstStyle/>
          <a:p>
            <a:pPr marL="0" indent="0">
              <a:buNone/>
            </a:pPr>
            <a:r>
              <a:rPr lang="zh-CN" altLang="en-US" dirty="0"/>
              <a:t>例</a:t>
            </a:r>
            <a:r>
              <a:rPr lang="en-US" altLang="zh-CN" dirty="0"/>
              <a:t>1</a:t>
            </a:r>
            <a:r>
              <a:rPr lang="zh-CN" altLang="en-US" dirty="0"/>
              <a:t> </a:t>
            </a:r>
            <a:r>
              <a:rPr lang="en-US" altLang="zh-CN" dirty="0">
                <a:solidFill>
                  <a:srgbClr val="FF0000"/>
                </a:solidFill>
              </a:rPr>
              <a:t>(Environment)</a:t>
            </a:r>
            <a:r>
              <a:rPr lang="zh-CN" altLang="en-US" dirty="0"/>
              <a:t>经过权衡，这篇文章采用“对环境</a:t>
            </a:r>
            <a:r>
              <a:rPr lang="en-US" altLang="zh-CN" dirty="0"/>
              <a:t>-</a:t>
            </a:r>
            <a:r>
              <a:rPr lang="zh-CN" altLang="en-US" dirty="0"/>
              <a:t>经济利益</a:t>
            </a:r>
            <a:r>
              <a:rPr lang="en-US" altLang="zh-CN" dirty="0"/>
              <a:t>-</a:t>
            </a:r>
            <a:r>
              <a:rPr lang="zh-CN" altLang="en-US" dirty="0"/>
              <a:t>道德</a:t>
            </a:r>
            <a:r>
              <a:rPr lang="en-US" altLang="zh-CN" dirty="0"/>
              <a:t>-</a:t>
            </a:r>
            <a:r>
              <a:rPr lang="zh-CN" altLang="en-US" dirty="0"/>
              <a:t>社会   有什么影响”的模型比较合适。</a:t>
            </a:r>
            <a:endParaRPr lang="en-US" altLang="zh-CN" dirty="0"/>
          </a:p>
          <a:p>
            <a:pPr marL="0" indent="0">
              <a:buNone/>
            </a:pPr>
            <a:r>
              <a:rPr lang="zh-CN" altLang="en-US" dirty="0"/>
              <a:t>对环境的正面影响： 减少了非法杀戮野生动物的可能性，增加了生物多样性。</a:t>
            </a:r>
            <a:endParaRPr lang="en-US" altLang="zh-CN" dirty="0"/>
          </a:p>
          <a:p>
            <a:pPr marL="0" indent="0">
              <a:buNone/>
            </a:pPr>
            <a:r>
              <a:rPr lang="zh-CN" altLang="en-US" dirty="0"/>
              <a:t>对环境的负面影响：（暂时想不到）</a:t>
            </a:r>
            <a:endParaRPr lang="en-US" altLang="zh-CN" dirty="0"/>
          </a:p>
          <a:p>
            <a:pPr marL="0" indent="0">
              <a:buNone/>
            </a:pPr>
            <a:r>
              <a:rPr lang="zh-CN" altLang="en-US" dirty="0"/>
              <a:t>对经济利益的正面影响：能发展其他制造业（合成物品），引领产业升级，使商品具有更高附加值</a:t>
            </a:r>
            <a:endParaRPr lang="en-US" altLang="zh-CN" dirty="0"/>
          </a:p>
          <a:p>
            <a:pPr marL="0" indent="0">
              <a:buNone/>
            </a:pPr>
            <a:r>
              <a:rPr lang="zh-CN" altLang="en-US" dirty="0"/>
              <a:t>对经济利益的负面影响：对大量原有工厂和产业链是重大打击</a:t>
            </a:r>
            <a:endParaRPr lang="en-US" altLang="zh-CN" dirty="0"/>
          </a:p>
          <a:p>
            <a:pPr marL="0" indent="0">
              <a:buNone/>
            </a:pPr>
            <a:r>
              <a:rPr lang="zh-CN" altLang="en-US" dirty="0"/>
              <a:t>道德一方面：杀害大量动物是不道德的</a:t>
            </a:r>
            <a:endParaRPr lang="en-US" altLang="zh-CN" dirty="0"/>
          </a:p>
          <a:p>
            <a:pPr marL="0" indent="0">
              <a:buNone/>
            </a:pPr>
            <a:r>
              <a:rPr lang="zh-CN" altLang="en-US" dirty="0"/>
              <a:t>道德另一方面：为了保护动物而使大量工人失业同样是不道德的</a:t>
            </a:r>
          </a:p>
        </p:txBody>
      </p:sp>
      <p:pic>
        <p:nvPicPr>
          <p:cNvPr id="4" name="图片 3">
            <a:extLst>
              <a:ext uri="{FF2B5EF4-FFF2-40B4-BE49-F238E27FC236}">
                <a16:creationId xmlns:a16="http://schemas.microsoft.com/office/drawing/2014/main" id="{550E516B-7BA4-750C-8535-ADD3656179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576" y="1109649"/>
            <a:ext cx="11728933" cy="1650332"/>
          </a:xfrm>
          <a:prstGeom prst="rect">
            <a:avLst/>
          </a:prstGeom>
        </p:spPr>
      </p:pic>
    </p:spTree>
    <p:extLst>
      <p:ext uri="{BB962C8B-B14F-4D97-AF65-F5344CB8AC3E}">
        <p14:creationId xmlns:p14="http://schemas.microsoft.com/office/powerpoint/2010/main" val="4178607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1202B-BDEA-5C30-1922-4AAC491EB467}"/>
              </a:ext>
            </a:extLst>
          </p:cNvPr>
          <p:cNvSpPr>
            <a:spLocks noGrp="1"/>
          </p:cNvSpPr>
          <p:nvPr>
            <p:ph type="title"/>
          </p:nvPr>
        </p:nvSpPr>
        <p:spPr>
          <a:xfrm>
            <a:off x="608400" y="99353"/>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CAE0C481-82EB-94AD-AD80-54037888A002}"/>
              </a:ext>
            </a:extLst>
          </p:cNvPr>
          <p:cNvSpPr>
            <a:spLocks noGrp="1"/>
          </p:cNvSpPr>
          <p:nvPr>
            <p:ph idx="1"/>
          </p:nvPr>
        </p:nvSpPr>
        <p:spPr/>
        <p:txBody>
          <a:bodyPr/>
          <a:lstStyle/>
          <a:p>
            <a:pPr marL="0" indent="0">
              <a:buNone/>
            </a:pPr>
            <a:endParaRPr lang="en-US" altLang="zh-CN" dirty="0"/>
          </a:p>
          <a:p>
            <a:pPr marL="0" indent="0">
              <a:buNone/>
            </a:pPr>
            <a:r>
              <a:rPr lang="zh-CN" altLang="en-US" dirty="0"/>
              <a:t>例</a:t>
            </a:r>
            <a:r>
              <a:rPr lang="en-US" altLang="zh-CN" dirty="0"/>
              <a:t>2</a:t>
            </a:r>
            <a:r>
              <a:rPr lang="en-US" altLang="zh-CN" dirty="0">
                <a:solidFill>
                  <a:srgbClr val="FF0000"/>
                </a:solidFill>
              </a:rPr>
              <a:t>(Sustainability)</a:t>
            </a:r>
            <a:r>
              <a:rPr lang="zh-CN" altLang="en-US" dirty="0"/>
              <a:t>：</a:t>
            </a:r>
            <a:r>
              <a:rPr lang="en-US" altLang="zh-CN" dirty="0"/>
              <a:t>As countries develop, more and more people buy and use private cars. How should such phenomenon be restricted?</a:t>
            </a:r>
          </a:p>
          <a:p>
            <a:pPr marL="0" indent="0">
              <a:buNone/>
            </a:pPr>
            <a:r>
              <a:rPr lang="zh-CN" altLang="en-US" dirty="0"/>
              <a:t>这篇文章就可以很顺畅地从个人</a:t>
            </a:r>
            <a:r>
              <a:rPr lang="en-US" altLang="zh-CN" dirty="0"/>
              <a:t>-</a:t>
            </a:r>
            <a:r>
              <a:rPr lang="zh-CN" altLang="en-US" dirty="0"/>
              <a:t>社会</a:t>
            </a:r>
            <a:r>
              <a:rPr lang="en-US" altLang="zh-CN" dirty="0"/>
              <a:t>/</a:t>
            </a:r>
            <a:r>
              <a:rPr lang="zh-CN" altLang="en-US" dirty="0"/>
              <a:t>公司</a:t>
            </a:r>
            <a:r>
              <a:rPr lang="en-US" altLang="zh-CN" dirty="0"/>
              <a:t>-</a:t>
            </a:r>
            <a:r>
              <a:rPr lang="zh-CN" altLang="en-US" dirty="0"/>
              <a:t>国家 的角度来思考。</a:t>
            </a:r>
            <a:endParaRPr lang="en-US" altLang="zh-CN" dirty="0"/>
          </a:p>
          <a:p>
            <a:pPr marL="0" indent="0">
              <a:buNone/>
            </a:pPr>
            <a:r>
              <a:rPr lang="zh-CN" altLang="en-US" dirty="0"/>
              <a:t>个人：多乘坐公共交通</a:t>
            </a:r>
            <a:r>
              <a:rPr lang="en-US" altLang="zh-CN" dirty="0"/>
              <a:t>/</a:t>
            </a:r>
            <a:r>
              <a:rPr lang="zh-CN" altLang="en-US" dirty="0"/>
              <a:t>绿色出行</a:t>
            </a:r>
            <a:endParaRPr lang="en-US" altLang="zh-CN" dirty="0"/>
          </a:p>
          <a:p>
            <a:pPr marL="0" indent="0">
              <a:buNone/>
            </a:pPr>
            <a:r>
              <a:rPr lang="zh-CN" altLang="en-US" dirty="0"/>
              <a:t>公司：承担社会责任，发展电车板块业务，通过技术研发实现低排放</a:t>
            </a:r>
            <a:endParaRPr lang="en-US" altLang="zh-CN" dirty="0"/>
          </a:p>
          <a:p>
            <a:pPr marL="0" indent="0">
              <a:buNone/>
            </a:pPr>
            <a:r>
              <a:rPr lang="zh-CN" altLang="en-US" dirty="0"/>
              <a:t>政府：出台政策限制私家车出行（限号出行），给有高污染企业加税</a:t>
            </a:r>
            <a:r>
              <a:rPr lang="en-US" altLang="zh-CN" dirty="0"/>
              <a:t>/</a:t>
            </a:r>
            <a:r>
              <a:rPr lang="zh-CN" altLang="en-US" dirty="0"/>
              <a:t>关停，给产业链绿色的公司减税</a:t>
            </a:r>
            <a:r>
              <a:rPr lang="en-US" altLang="zh-CN" dirty="0"/>
              <a:t>……</a:t>
            </a:r>
            <a:endParaRPr lang="zh-CN" altLang="en-US" dirty="0"/>
          </a:p>
        </p:txBody>
      </p:sp>
    </p:spTree>
    <p:extLst>
      <p:ext uri="{BB962C8B-B14F-4D97-AF65-F5344CB8AC3E}">
        <p14:creationId xmlns:p14="http://schemas.microsoft.com/office/powerpoint/2010/main" val="1670506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B636F-6015-4D3D-15BC-AD1142AA2F7D}"/>
              </a:ext>
            </a:extLst>
          </p:cNvPr>
          <p:cNvSpPr>
            <a:spLocks noGrp="1"/>
          </p:cNvSpPr>
          <p:nvPr>
            <p:ph type="title"/>
          </p:nvPr>
        </p:nvSpPr>
        <p:spPr>
          <a:xfrm>
            <a:off x="611400" y="103074"/>
            <a:ext cx="10969200" cy="705600"/>
          </a:xfrm>
        </p:spPr>
        <p:txBody>
          <a:bodyPr/>
          <a:lstStyle/>
          <a:p>
            <a:r>
              <a:rPr lang="zh-CN" altLang="en-US" dirty="0"/>
              <a:t>论点生成</a:t>
            </a:r>
          </a:p>
        </p:txBody>
      </p:sp>
      <p:pic>
        <p:nvPicPr>
          <p:cNvPr id="5" name="内容占位符 4">
            <a:extLst>
              <a:ext uri="{FF2B5EF4-FFF2-40B4-BE49-F238E27FC236}">
                <a16:creationId xmlns:a16="http://schemas.microsoft.com/office/drawing/2014/main" id="{B2CCD830-015D-8D49-2195-A62988BC6D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30829" y="1620282"/>
            <a:ext cx="8154072" cy="1514733"/>
          </a:xfrm>
        </p:spPr>
      </p:pic>
      <p:pic>
        <p:nvPicPr>
          <p:cNvPr id="7" name="图片 6">
            <a:extLst>
              <a:ext uri="{FF2B5EF4-FFF2-40B4-BE49-F238E27FC236}">
                <a16:creationId xmlns:a16="http://schemas.microsoft.com/office/drawing/2014/main" id="{272DCF1F-9D50-6D5A-E065-F2149A5F0C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0829" y="4152036"/>
            <a:ext cx="9237750" cy="2430987"/>
          </a:xfrm>
          <a:prstGeom prst="rect">
            <a:avLst/>
          </a:prstGeom>
        </p:spPr>
      </p:pic>
      <p:sp>
        <p:nvSpPr>
          <p:cNvPr id="3" name="文本框 2">
            <a:extLst>
              <a:ext uri="{FF2B5EF4-FFF2-40B4-BE49-F238E27FC236}">
                <a16:creationId xmlns:a16="http://schemas.microsoft.com/office/drawing/2014/main" id="{FC643B54-0B5A-D527-31D6-8C2FBBABF22A}"/>
              </a:ext>
            </a:extLst>
          </p:cNvPr>
          <p:cNvSpPr txBox="1"/>
          <p:nvPr/>
        </p:nvSpPr>
        <p:spPr>
          <a:xfrm>
            <a:off x="1730829" y="1147185"/>
            <a:ext cx="1559378" cy="400110"/>
          </a:xfrm>
          <a:prstGeom prst="rect">
            <a:avLst/>
          </a:prstGeom>
          <a:noFill/>
        </p:spPr>
        <p:txBody>
          <a:bodyPr wrap="square" rtlCol="0">
            <a:spAutoFit/>
          </a:bodyPr>
          <a:lstStyle/>
          <a:p>
            <a:r>
              <a:rPr lang="en-US" altLang="zh-CN" sz="2000" dirty="0">
                <a:solidFill>
                  <a:srgbClr val="FF0000"/>
                </a:solidFill>
              </a:rPr>
              <a:t>(Education)</a:t>
            </a:r>
            <a:endParaRPr lang="zh-CN" altLang="en-US" sz="2000" dirty="0">
              <a:solidFill>
                <a:srgbClr val="FF0000"/>
              </a:solidFill>
            </a:endParaRPr>
          </a:p>
        </p:txBody>
      </p:sp>
      <p:sp>
        <p:nvSpPr>
          <p:cNvPr id="6" name="文本框 5">
            <a:extLst>
              <a:ext uri="{FF2B5EF4-FFF2-40B4-BE49-F238E27FC236}">
                <a16:creationId xmlns:a16="http://schemas.microsoft.com/office/drawing/2014/main" id="{A5F50320-F794-D47E-4C87-733A18B0ED23}"/>
              </a:ext>
            </a:extLst>
          </p:cNvPr>
          <p:cNvSpPr txBox="1"/>
          <p:nvPr/>
        </p:nvSpPr>
        <p:spPr>
          <a:xfrm>
            <a:off x="1730829" y="3429000"/>
            <a:ext cx="2993127" cy="369332"/>
          </a:xfrm>
          <a:prstGeom prst="rect">
            <a:avLst/>
          </a:prstGeom>
          <a:noFill/>
        </p:spPr>
        <p:txBody>
          <a:bodyPr wrap="none" rtlCol="0">
            <a:spAutoFit/>
          </a:bodyPr>
          <a:lstStyle/>
          <a:p>
            <a:r>
              <a:rPr lang="en-US" altLang="zh-CN" dirty="0">
                <a:solidFill>
                  <a:srgbClr val="FF0000"/>
                </a:solidFill>
              </a:rPr>
              <a:t>(People, Global citizenship)</a:t>
            </a:r>
            <a:endParaRPr lang="zh-CN" altLang="en-US" dirty="0">
              <a:solidFill>
                <a:srgbClr val="FF0000"/>
              </a:solidFill>
            </a:endParaRPr>
          </a:p>
        </p:txBody>
      </p:sp>
    </p:spTree>
    <p:extLst>
      <p:ext uri="{BB962C8B-B14F-4D97-AF65-F5344CB8AC3E}">
        <p14:creationId xmlns:p14="http://schemas.microsoft.com/office/powerpoint/2010/main" val="1925124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259CA5-A972-DCB3-1931-B0AE0ED6EBDE}"/>
              </a:ext>
            </a:extLst>
          </p:cNvPr>
          <p:cNvSpPr>
            <a:spLocks noGrp="1"/>
          </p:cNvSpPr>
          <p:nvPr>
            <p:ph type="title"/>
          </p:nvPr>
        </p:nvSpPr>
        <p:spPr>
          <a:xfrm>
            <a:off x="608400" y="111094"/>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BC92BAEB-39D6-6548-3A5F-54988123419C}"/>
              </a:ext>
            </a:extLst>
          </p:cNvPr>
          <p:cNvSpPr>
            <a:spLocks noGrp="1"/>
          </p:cNvSpPr>
          <p:nvPr>
            <p:ph idx="1"/>
          </p:nvPr>
        </p:nvSpPr>
        <p:spPr>
          <a:xfrm>
            <a:off x="608400" y="2244379"/>
            <a:ext cx="10969200" cy="4759200"/>
          </a:xfrm>
        </p:spPr>
        <p:txBody>
          <a:bodyPr/>
          <a:lstStyle/>
          <a:p>
            <a:pPr marL="0" indent="0">
              <a:buNone/>
            </a:pPr>
            <a:r>
              <a:rPr lang="zh-CN" altLang="en-US" dirty="0"/>
              <a:t>例</a:t>
            </a:r>
            <a:r>
              <a:rPr lang="en-US" altLang="zh-CN" dirty="0"/>
              <a:t>3</a:t>
            </a:r>
            <a:r>
              <a:rPr lang="zh-CN" altLang="en-US" dirty="0"/>
              <a:t>：可以有多种角度选取，这里选用个人</a:t>
            </a:r>
            <a:r>
              <a:rPr lang="en-US" altLang="zh-CN" dirty="0"/>
              <a:t>-</a:t>
            </a:r>
            <a:r>
              <a:rPr lang="zh-CN" altLang="en-US" dirty="0"/>
              <a:t>社会</a:t>
            </a:r>
            <a:r>
              <a:rPr lang="en-US" altLang="zh-CN" dirty="0"/>
              <a:t>-</a:t>
            </a:r>
            <a:r>
              <a:rPr lang="zh-CN" altLang="en-US" dirty="0"/>
              <a:t>国家的角度</a:t>
            </a:r>
            <a:endParaRPr lang="en-US" altLang="zh-CN" dirty="0"/>
          </a:p>
          <a:p>
            <a:pPr marL="0" indent="0">
              <a:buNone/>
            </a:pPr>
            <a:r>
              <a:rPr lang="zh-CN" altLang="en-US" dirty="0"/>
              <a:t>个人好处：能够学习到适应社会需求的能力和知识</a:t>
            </a:r>
            <a:endParaRPr lang="en-US" altLang="zh-CN" dirty="0"/>
          </a:p>
          <a:p>
            <a:pPr marL="0" indent="0">
              <a:buNone/>
            </a:pPr>
            <a:r>
              <a:rPr lang="zh-CN" altLang="en-US" dirty="0"/>
              <a:t>个人坏处：容易失去主见和个人想法</a:t>
            </a:r>
            <a:endParaRPr lang="en-US" altLang="zh-CN" dirty="0"/>
          </a:p>
          <a:p>
            <a:pPr marL="0" indent="0">
              <a:buNone/>
            </a:pPr>
            <a:r>
              <a:rPr lang="zh-CN" altLang="en-US" dirty="0"/>
              <a:t>社会</a:t>
            </a:r>
            <a:r>
              <a:rPr lang="en-US" altLang="zh-CN" dirty="0"/>
              <a:t>/</a:t>
            </a:r>
            <a:r>
              <a:rPr lang="zh-CN" altLang="en-US" dirty="0"/>
              <a:t>国家好处：能够培育出一个好公民</a:t>
            </a:r>
            <a:endParaRPr lang="en-US" altLang="zh-CN" dirty="0"/>
          </a:p>
          <a:p>
            <a:pPr marL="0" indent="0">
              <a:buNone/>
            </a:pPr>
            <a:r>
              <a:rPr lang="zh-CN" altLang="en-US" dirty="0"/>
              <a:t>社会</a:t>
            </a:r>
            <a:r>
              <a:rPr lang="en-US" altLang="zh-CN" dirty="0"/>
              <a:t>/</a:t>
            </a:r>
            <a:r>
              <a:rPr lang="zh-CN" altLang="en-US" dirty="0"/>
              <a:t>国家坏处：教育产物趋于平庸，各领域缺乏创新性、突破性人才</a:t>
            </a:r>
            <a:endParaRPr lang="en-US" altLang="zh-CN" dirty="0"/>
          </a:p>
          <a:p>
            <a:pPr marL="0" indent="0">
              <a:buNone/>
            </a:pPr>
            <a:endParaRPr lang="en-US" altLang="zh-CN" dirty="0"/>
          </a:p>
        </p:txBody>
      </p:sp>
    </p:spTree>
    <p:extLst>
      <p:ext uri="{BB962C8B-B14F-4D97-AF65-F5344CB8AC3E}">
        <p14:creationId xmlns:p14="http://schemas.microsoft.com/office/powerpoint/2010/main" val="11415976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473039-721F-CB6B-8728-C4C86AF273FC}"/>
              </a:ext>
            </a:extLst>
          </p:cNvPr>
          <p:cNvSpPr>
            <a:spLocks noGrp="1"/>
          </p:cNvSpPr>
          <p:nvPr>
            <p:ph type="title"/>
          </p:nvPr>
        </p:nvSpPr>
        <p:spPr>
          <a:xfrm>
            <a:off x="664547" y="70989"/>
            <a:ext cx="10969200" cy="705600"/>
          </a:xfrm>
        </p:spPr>
        <p:txBody>
          <a:bodyPr/>
          <a:lstStyle/>
          <a:p>
            <a:r>
              <a:rPr lang="zh-CN" altLang="en-US" dirty="0"/>
              <a:t>论点生成</a:t>
            </a:r>
          </a:p>
        </p:txBody>
      </p:sp>
      <p:sp>
        <p:nvSpPr>
          <p:cNvPr id="3" name="内容占位符 2">
            <a:extLst>
              <a:ext uri="{FF2B5EF4-FFF2-40B4-BE49-F238E27FC236}">
                <a16:creationId xmlns:a16="http://schemas.microsoft.com/office/drawing/2014/main" id="{0C3E3B75-7795-BA93-A0DC-5D9CE4561B1E}"/>
              </a:ext>
            </a:extLst>
          </p:cNvPr>
          <p:cNvSpPr>
            <a:spLocks noGrp="1"/>
          </p:cNvSpPr>
          <p:nvPr>
            <p:ph idx="1"/>
          </p:nvPr>
        </p:nvSpPr>
        <p:spPr/>
        <p:txBody>
          <a:bodyPr/>
          <a:lstStyle/>
          <a:p>
            <a:pPr marL="0" indent="0">
              <a:buNone/>
            </a:pPr>
            <a:r>
              <a:rPr lang="zh-CN" altLang="en-US" dirty="0"/>
              <a:t>例</a:t>
            </a:r>
            <a:r>
              <a:rPr lang="en-US" altLang="zh-CN" dirty="0"/>
              <a:t>4</a:t>
            </a:r>
            <a:r>
              <a:rPr lang="zh-CN" altLang="en-US" dirty="0"/>
              <a:t>：这里选取“对环境</a:t>
            </a:r>
            <a:r>
              <a:rPr lang="en-US" altLang="zh-CN" dirty="0"/>
              <a:t>-</a:t>
            </a:r>
            <a:r>
              <a:rPr lang="zh-CN" altLang="en-US" dirty="0"/>
              <a:t>经济利益</a:t>
            </a:r>
            <a:r>
              <a:rPr lang="en-US" altLang="zh-CN" dirty="0"/>
              <a:t>-</a:t>
            </a:r>
            <a:r>
              <a:rPr lang="zh-CN" altLang="en-US" dirty="0"/>
              <a:t>道德</a:t>
            </a:r>
            <a:r>
              <a:rPr lang="en-US" altLang="zh-CN" dirty="0"/>
              <a:t>-</a:t>
            </a:r>
            <a:r>
              <a:rPr lang="zh-CN" altLang="en-US" dirty="0"/>
              <a:t>社会   有什么影响”的思考方式</a:t>
            </a:r>
            <a:endParaRPr lang="en-US" altLang="zh-CN" dirty="0"/>
          </a:p>
          <a:p>
            <a:pPr marL="0" indent="0">
              <a:buNone/>
            </a:pPr>
            <a:r>
              <a:rPr lang="zh-CN" altLang="en-US" dirty="0"/>
              <a:t>对经济的好处：将钱花在文化保护项目上可以使其成为国家</a:t>
            </a:r>
            <a:r>
              <a:rPr lang="en-US" altLang="zh-CN" dirty="0"/>
              <a:t>/</a:t>
            </a:r>
            <a:r>
              <a:rPr lang="zh-CN" altLang="en-US" dirty="0"/>
              <a:t>区域文化名片，带动旅游业</a:t>
            </a:r>
            <a:endParaRPr lang="en-US" altLang="zh-CN" dirty="0"/>
          </a:p>
          <a:p>
            <a:pPr marL="0" indent="0">
              <a:buNone/>
            </a:pPr>
            <a:r>
              <a:rPr lang="zh-CN" altLang="en-US" dirty="0"/>
              <a:t>对经济的坏处：将钱花在注定要消亡的地方，浪费</a:t>
            </a:r>
            <a:endParaRPr lang="en-US" altLang="zh-CN" dirty="0"/>
          </a:p>
          <a:p>
            <a:pPr marL="0" indent="0">
              <a:buNone/>
            </a:pPr>
            <a:r>
              <a:rPr lang="zh-CN" altLang="en-US" dirty="0"/>
              <a:t>文化一面：语言和文化的魅力在于其多样性，应当保护</a:t>
            </a:r>
            <a:endParaRPr lang="en-US" altLang="zh-CN" dirty="0"/>
          </a:p>
          <a:p>
            <a:pPr marL="0" indent="0">
              <a:buNone/>
            </a:pPr>
            <a:r>
              <a:rPr lang="zh-CN" altLang="en-US" dirty="0"/>
              <a:t>文化另一面：语言的功能是用来沟通，这种小微语言已经失去该功能，注定消亡，不应该人为干预</a:t>
            </a:r>
            <a:endParaRPr lang="en-US" altLang="zh-CN" dirty="0"/>
          </a:p>
          <a:p>
            <a:pPr marL="0" indent="0">
              <a:buNone/>
            </a:pPr>
            <a:endParaRPr lang="en-US" altLang="zh-CN" dirty="0"/>
          </a:p>
          <a:p>
            <a:pPr marL="0" indent="0">
              <a:buNone/>
            </a:pPr>
            <a:r>
              <a:rPr lang="zh-CN" altLang="en-US" dirty="0"/>
              <a:t>从上例可以看出，模型并不应该生搬套，而是基于提供的思路实际情况实际分析</a:t>
            </a:r>
          </a:p>
          <a:p>
            <a:pPr marL="0" indent="0">
              <a:buNone/>
            </a:pPr>
            <a:endParaRPr lang="zh-CN" altLang="en-US" dirty="0"/>
          </a:p>
        </p:txBody>
      </p:sp>
    </p:spTree>
    <p:extLst>
      <p:ext uri="{BB962C8B-B14F-4D97-AF65-F5344CB8AC3E}">
        <p14:creationId xmlns:p14="http://schemas.microsoft.com/office/powerpoint/2010/main" val="2236326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32B3C1-61B1-AA74-7332-F06173371FD2}"/>
              </a:ext>
            </a:extLst>
          </p:cNvPr>
          <p:cNvSpPr>
            <a:spLocks noGrp="1"/>
          </p:cNvSpPr>
          <p:nvPr>
            <p:ph type="title"/>
          </p:nvPr>
        </p:nvSpPr>
        <p:spPr>
          <a:xfrm>
            <a:off x="608400" y="135158"/>
            <a:ext cx="10969200" cy="705600"/>
          </a:xfrm>
        </p:spPr>
        <p:txBody>
          <a:bodyPr/>
          <a:lstStyle/>
          <a:p>
            <a:r>
              <a:rPr lang="zh-CN" altLang="en-US" dirty="0"/>
              <a:t>主体段内容</a:t>
            </a:r>
          </a:p>
        </p:txBody>
      </p:sp>
      <p:sp>
        <p:nvSpPr>
          <p:cNvPr id="3" name="内容占位符 2">
            <a:extLst>
              <a:ext uri="{FF2B5EF4-FFF2-40B4-BE49-F238E27FC236}">
                <a16:creationId xmlns:a16="http://schemas.microsoft.com/office/drawing/2014/main" id="{A953423B-82B3-39A2-722D-A130181430B4}"/>
              </a:ext>
            </a:extLst>
          </p:cNvPr>
          <p:cNvSpPr>
            <a:spLocks noGrp="1"/>
          </p:cNvSpPr>
          <p:nvPr>
            <p:ph idx="1"/>
          </p:nvPr>
        </p:nvSpPr>
        <p:spPr/>
        <p:txBody>
          <a:bodyPr/>
          <a:lstStyle/>
          <a:p>
            <a:pPr marL="0" indent="0">
              <a:buNone/>
            </a:pPr>
            <a:r>
              <a:rPr lang="zh-CN" altLang="en-US" dirty="0"/>
              <a:t>在确定了分论点后，需要做的是对其进行进一步论证，开枝散叶。需要培养的能力是看到分论点后快速构想处论证逻辑和主要结构的能力。</a:t>
            </a:r>
            <a:endParaRPr lang="en-US" altLang="zh-CN" dirty="0"/>
          </a:p>
          <a:p>
            <a:pPr marL="0" indent="0">
              <a:buNone/>
            </a:pPr>
            <a:r>
              <a:rPr lang="zh-CN" altLang="en-US" dirty="0"/>
              <a:t>例：</a:t>
            </a:r>
            <a:r>
              <a:rPr lang="en-US" altLang="zh-CN" dirty="0"/>
              <a:t>Juvenile delinquency can be stopped via…?</a:t>
            </a:r>
          </a:p>
          <a:p>
            <a:pPr marL="0" indent="0">
              <a:buNone/>
            </a:pPr>
            <a:r>
              <a:rPr lang="en-US" altLang="zh-CN" dirty="0"/>
              <a:t>1.Education in schools</a:t>
            </a:r>
          </a:p>
          <a:p>
            <a:pPr marL="0" indent="0">
              <a:buNone/>
            </a:pPr>
            <a:r>
              <a:rPr lang="en-US" altLang="zh-CN" dirty="0"/>
              <a:t>2.Positive promotions in artistic pieces</a:t>
            </a:r>
          </a:p>
          <a:p>
            <a:pPr marL="0" indent="0">
              <a:buNone/>
            </a:pPr>
            <a:r>
              <a:rPr lang="en-US" altLang="zh-CN" dirty="0"/>
              <a:t>1.</a:t>
            </a:r>
            <a:r>
              <a:rPr lang="zh-CN" altLang="en-US" dirty="0"/>
              <a:t>第一个分论点可以想到：学校教育方式？学校的教育频率？如何保证学校教育有效实施？</a:t>
            </a:r>
            <a:endParaRPr lang="en-US" altLang="zh-CN" dirty="0"/>
          </a:p>
          <a:p>
            <a:pPr marL="0" indent="0">
              <a:buNone/>
            </a:pPr>
            <a:r>
              <a:rPr lang="en-US" altLang="zh-CN" dirty="0"/>
              <a:t>2.</a:t>
            </a:r>
            <a:r>
              <a:rPr lang="zh-CN" altLang="en-US" dirty="0"/>
              <a:t>第二个分论点可以想到：哪些电影</a:t>
            </a:r>
            <a:r>
              <a:rPr lang="en-US" altLang="zh-CN" dirty="0"/>
              <a:t>/</a:t>
            </a:r>
            <a:r>
              <a:rPr lang="zh-CN" altLang="en-US" dirty="0"/>
              <a:t>影视剧</a:t>
            </a:r>
            <a:r>
              <a:rPr lang="en-US" altLang="zh-CN" dirty="0"/>
              <a:t>/</a:t>
            </a:r>
            <a:r>
              <a:rPr lang="zh-CN" altLang="en-US" dirty="0"/>
              <a:t>小说</a:t>
            </a:r>
            <a:r>
              <a:rPr lang="en-US" altLang="zh-CN" dirty="0"/>
              <a:t>/</a:t>
            </a:r>
            <a:r>
              <a:rPr lang="zh-CN" altLang="en-US" dirty="0"/>
              <a:t>艺术作品中涉及可能引导青少年犯罪的内容？</a:t>
            </a:r>
            <a:endParaRPr lang="en-US" altLang="zh-CN" dirty="0"/>
          </a:p>
          <a:p>
            <a:pPr marL="0" indent="0">
              <a:buNone/>
            </a:pPr>
            <a:r>
              <a:rPr lang="zh-CN" altLang="en-US" dirty="0"/>
              <a:t>是否应该删减？如何保证青少年不被</a:t>
            </a:r>
            <a:r>
              <a:rPr lang="en-US" altLang="zh-CN" dirty="0"/>
              <a:t>expose</a:t>
            </a:r>
            <a:r>
              <a:rPr lang="zh-CN" altLang="en-US" dirty="0"/>
              <a:t>？</a:t>
            </a:r>
          </a:p>
        </p:txBody>
      </p:sp>
    </p:spTree>
    <p:extLst>
      <p:ext uri="{BB962C8B-B14F-4D97-AF65-F5344CB8AC3E}">
        <p14:creationId xmlns:p14="http://schemas.microsoft.com/office/powerpoint/2010/main" val="4231236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CB78E-1AFC-835E-09AF-5055D6E15D2D}"/>
              </a:ext>
            </a:extLst>
          </p:cNvPr>
          <p:cNvSpPr>
            <a:spLocks noGrp="1"/>
          </p:cNvSpPr>
          <p:nvPr>
            <p:ph type="title"/>
          </p:nvPr>
        </p:nvSpPr>
        <p:spPr>
          <a:xfrm>
            <a:off x="608400" y="132539"/>
            <a:ext cx="10969200" cy="705600"/>
          </a:xfrm>
        </p:spPr>
        <p:txBody>
          <a:bodyPr/>
          <a:lstStyle/>
          <a:p>
            <a:r>
              <a:rPr lang="en-US" altLang="zh-CN" dirty="0"/>
              <a:t>BP</a:t>
            </a:r>
            <a:r>
              <a:rPr lang="zh-CN" altLang="en-US" dirty="0"/>
              <a:t>练习</a:t>
            </a:r>
          </a:p>
        </p:txBody>
      </p:sp>
      <p:pic>
        <p:nvPicPr>
          <p:cNvPr id="9" name="内容占位符 8">
            <a:extLst>
              <a:ext uri="{FF2B5EF4-FFF2-40B4-BE49-F238E27FC236}">
                <a16:creationId xmlns:a16="http://schemas.microsoft.com/office/drawing/2014/main" id="{12FF18FD-7328-A041-AF73-3371708EB8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8400" y="2456174"/>
            <a:ext cx="10918890" cy="2876379"/>
          </a:xfrm>
        </p:spPr>
      </p:pic>
      <p:sp>
        <p:nvSpPr>
          <p:cNvPr id="3" name="文本框 2">
            <a:extLst>
              <a:ext uri="{FF2B5EF4-FFF2-40B4-BE49-F238E27FC236}">
                <a16:creationId xmlns:a16="http://schemas.microsoft.com/office/drawing/2014/main" id="{69C84829-08B6-2C72-BD69-FD666D18DC30}"/>
              </a:ext>
            </a:extLst>
          </p:cNvPr>
          <p:cNvSpPr txBox="1"/>
          <p:nvPr/>
        </p:nvSpPr>
        <p:spPr>
          <a:xfrm>
            <a:off x="608400" y="1385162"/>
            <a:ext cx="1363436" cy="523220"/>
          </a:xfrm>
          <a:prstGeom prst="rect">
            <a:avLst/>
          </a:prstGeom>
          <a:noFill/>
        </p:spPr>
        <p:txBody>
          <a:bodyPr wrap="square" rtlCol="0">
            <a:spAutoFit/>
          </a:bodyPr>
          <a:lstStyle/>
          <a:p>
            <a:r>
              <a:rPr lang="en-US" altLang="zh-CN" sz="2800" dirty="0">
                <a:solidFill>
                  <a:srgbClr val="FF0000"/>
                </a:solidFill>
              </a:rPr>
              <a:t>(Health)</a:t>
            </a:r>
            <a:endParaRPr lang="zh-CN" altLang="en-US" sz="2800" dirty="0">
              <a:solidFill>
                <a:srgbClr val="FF0000"/>
              </a:solidFill>
            </a:endParaRPr>
          </a:p>
        </p:txBody>
      </p:sp>
    </p:spTree>
    <p:extLst>
      <p:ext uri="{BB962C8B-B14F-4D97-AF65-F5344CB8AC3E}">
        <p14:creationId xmlns:p14="http://schemas.microsoft.com/office/powerpoint/2010/main" val="9667928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5415C-5DBB-A359-3580-0C3CEBC0B60D}"/>
              </a:ext>
            </a:extLst>
          </p:cNvPr>
          <p:cNvSpPr>
            <a:spLocks noGrp="1"/>
          </p:cNvSpPr>
          <p:nvPr>
            <p:ph type="title"/>
          </p:nvPr>
        </p:nvSpPr>
        <p:spPr>
          <a:xfrm>
            <a:off x="511973" y="87032"/>
            <a:ext cx="10969200" cy="705600"/>
          </a:xfrm>
        </p:spPr>
        <p:txBody>
          <a:bodyPr/>
          <a:lstStyle/>
          <a:p>
            <a:r>
              <a:rPr lang="en-US" altLang="zh-CN" dirty="0"/>
              <a:t>BP</a:t>
            </a:r>
            <a:r>
              <a:rPr lang="zh-CN" altLang="en-US" dirty="0"/>
              <a:t>练习</a:t>
            </a:r>
          </a:p>
        </p:txBody>
      </p:sp>
      <p:pic>
        <p:nvPicPr>
          <p:cNvPr id="5" name="内容占位符 4">
            <a:extLst>
              <a:ext uri="{FF2B5EF4-FFF2-40B4-BE49-F238E27FC236}">
                <a16:creationId xmlns:a16="http://schemas.microsoft.com/office/drawing/2014/main" id="{77194390-FAAB-D5C3-F922-7C9263DF9B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70344" y="1260232"/>
            <a:ext cx="8077900" cy="2408129"/>
          </a:xfrm>
        </p:spPr>
      </p:pic>
      <p:pic>
        <p:nvPicPr>
          <p:cNvPr id="7" name="图片 6">
            <a:extLst>
              <a:ext uri="{FF2B5EF4-FFF2-40B4-BE49-F238E27FC236}">
                <a16:creationId xmlns:a16="http://schemas.microsoft.com/office/drawing/2014/main" id="{0090B322-5D2B-5285-A2D4-C27B94CD0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0917" y="4267096"/>
            <a:ext cx="8451312" cy="2400508"/>
          </a:xfrm>
          <a:prstGeom prst="rect">
            <a:avLst/>
          </a:prstGeom>
        </p:spPr>
      </p:pic>
      <p:sp>
        <p:nvSpPr>
          <p:cNvPr id="3" name="文本框 2">
            <a:extLst>
              <a:ext uri="{FF2B5EF4-FFF2-40B4-BE49-F238E27FC236}">
                <a16:creationId xmlns:a16="http://schemas.microsoft.com/office/drawing/2014/main" id="{0F42B65C-EF1C-1548-D532-6F345D23BCA5}"/>
              </a:ext>
            </a:extLst>
          </p:cNvPr>
          <p:cNvSpPr txBox="1"/>
          <p:nvPr/>
        </p:nvSpPr>
        <p:spPr>
          <a:xfrm>
            <a:off x="2000250" y="1022035"/>
            <a:ext cx="1633781" cy="369332"/>
          </a:xfrm>
          <a:prstGeom prst="rect">
            <a:avLst/>
          </a:prstGeom>
          <a:noFill/>
        </p:spPr>
        <p:txBody>
          <a:bodyPr wrap="none" rtlCol="0">
            <a:spAutoFit/>
          </a:bodyPr>
          <a:lstStyle/>
          <a:p>
            <a:r>
              <a:rPr lang="en-US" altLang="zh-CN" dirty="0">
                <a:solidFill>
                  <a:srgbClr val="FF0000"/>
                </a:solidFill>
              </a:rPr>
              <a:t>(Environment)</a:t>
            </a:r>
            <a:endParaRPr lang="zh-CN" altLang="en-US" dirty="0">
              <a:solidFill>
                <a:srgbClr val="FF0000"/>
              </a:solidFill>
            </a:endParaRPr>
          </a:p>
        </p:txBody>
      </p:sp>
      <p:sp>
        <p:nvSpPr>
          <p:cNvPr id="4" name="文本框 3">
            <a:extLst>
              <a:ext uri="{FF2B5EF4-FFF2-40B4-BE49-F238E27FC236}">
                <a16:creationId xmlns:a16="http://schemas.microsoft.com/office/drawing/2014/main" id="{EAF87BC9-4B20-A339-2C09-3401C4E8A26E}"/>
              </a:ext>
            </a:extLst>
          </p:cNvPr>
          <p:cNvSpPr txBox="1"/>
          <p:nvPr/>
        </p:nvSpPr>
        <p:spPr>
          <a:xfrm>
            <a:off x="2106386" y="3668361"/>
            <a:ext cx="1505605" cy="369332"/>
          </a:xfrm>
          <a:prstGeom prst="rect">
            <a:avLst/>
          </a:prstGeom>
          <a:noFill/>
        </p:spPr>
        <p:txBody>
          <a:bodyPr wrap="none" rtlCol="0">
            <a:spAutoFit/>
          </a:bodyPr>
          <a:lstStyle/>
          <a:p>
            <a:r>
              <a:rPr lang="en-US" altLang="zh-CN" dirty="0">
                <a:solidFill>
                  <a:srgbClr val="FF0000"/>
                </a:solidFill>
              </a:rPr>
              <a:t>(Technology)</a:t>
            </a:r>
            <a:endParaRPr lang="zh-CN" altLang="en-US" dirty="0">
              <a:solidFill>
                <a:srgbClr val="FF0000"/>
              </a:solidFill>
            </a:endParaRPr>
          </a:p>
        </p:txBody>
      </p:sp>
    </p:spTree>
    <p:extLst>
      <p:ext uri="{BB962C8B-B14F-4D97-AF65-F5344CB8AC3E}">
        <p14:creationId xmlns:p14="http://schemas.microsoft.com/office/powerpoint/2010/main" val="42803783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09C859-9E4F-D3B7-CF40-C3703BD93E9D}"/>
              </a:ext>
            </a:extLst>
          </p:cNvPr>
          <p:cNvSpPr>
            <a:spLocks noGrp="1"/>
          </p:cNvSpPr>
          <p:nvPr>
            <p:ph type="title"/>
          </p:nvPr>
        </p:nvSpPr>
        <p:spPr>
          <a:xfrm>
            <a:off x="608400" y="119116"/>
            <a:ext cx="10969200" cy="705600"/>
          </a:xfrm>
        </p:spPr>
        <p:txBody>
          <a:bodyPr/>
          <a:lstStyle/>
          <a:p>
            <a:r>
              <a:rPr lang="en-US" altLang="zh-CN" dirty="0"/>
              <a:t>BP</a:t>
            </a:r>
            <a:r>
              <a:rPr lang="zh-CN" altLang="en-US" dirty="0"/>
              <a:t>练习</a:t>
            </a:r>
          </a:p>
        </p:txBody>
      </p:sp>
      <p:sp>
        <p:nvSpPr>
          <p:cNvPr id="3" name="内容占位符 2">
            <a:extLst>
              <a:ext uri="{FF2B5EF4-FFF2-40B4-BE49-F238E27FC236}">
                <a16:creationId xmlns:a16="http://schemas.microsoft.com/office/drawing/2014/main" id="{8691FD14-8FE0-E19C-18FB-7B905653EE57}"/>
              </a:ext>
            </a:extLst>
          </p:cNvPr>
          <p:cNvSpPr>
            <a:spLocks noGrp="1"/>
          </p:cNvSpPr>
          <p:nvPr>
            <p:ph idx="1"/>
          </p:nvPr>
        </p:nvSpPr>
        <p:spPr>
          <a:xfrm>
            <a:off x="608400" y="1682905"/>
            <a:ext cx="10969200" cy="4759200"/>
          </a:xfrm>
        </p:spPr>
        <p:txBody>
          <a:bodyPr>
            <a:normAutofit/>
          </a:bodyPr>
          <a:lstStyle/>
          <a:p>
            <a:pPr marL="0" indent="0">
              <a:buNone/>
            </a:pPr>
            <a:r>
              <a:rPr lang="en-US" altLang="zh-CN" sz="2800" dirty="0"/>
              <a:t>Organic farming </a:t>
            </a:r>
            <a:r>
              <a:rPr lang="zh-CN" altLang="en-US" sz="2800" dirty="0"/>
              <a:t>好处：</a:t>
            </a:r>
            <a:endParaRPr lang="en-US" altLang="zh-CN" sz="2800" dirty="0"/>
          </a:p>
          <a:p>
            <a:pPr marL="0" indent="0">
              <a:buNone/>
            </a:pPr>
            <a:r>
              <a:rPr lang="en-US" altLang="zh-CN" sz="2800" dirty="0"/>
              <a:t>1.</a:t>
            </a:r>
            <a:r>
              <a:rPr lang="zh-CN" altLang="en-US" sz="2800" dirty="0"/>
              <a:t>无农药（</a:t>
            </a:r>
            <a:r>
              <a:rPr lang="en-US" altLang="zh-CN" sz="2800" dirty="0"/>
              <a:t>pesticide</a:t>
            </a:r>
            <a:r>
              <a:rPr lang="zh-CN" altLang="en-US" sz="2800" dirty="0"/>
              <a:t>），更健康，有益食品安全</a:t>
            </a:r>
            <a:endParaRPr lang="en-US" altLang="zh-CN" sz="2800" dirty="0"/>
          </a:p>
          <a:p>
            <a:pPr marL="0" indent="0">
              <a:buNone/>
            </a:pPr>
            <a:r>
              <a:rPr lang="en-US" altLang="zh-CN" sz="2800" dirty="0"/>
              <a:t>2.</a:t>
            </a:r>
            <a:r>
              <a:rPr lang="zh-CN" altLang="en-US" sz="2800" dirty="0"/>
              <a:t>不污染环境</a:t>
            </a:r>
            <a:endParaRPr lang="en-US" altLang="zh-CN" sz="2800" dirty="0"/>
          </a:p>
          <a:p>
            <a:pPr marL="0" indent="0">
              <a:buNone/>
            </a:pPr>
            <a:r>
              <a:rPr lang="zh-CN" altLang="en-US" sz="2800" dirty="0"/>
              <a:t>坏处：</a:t>
            </a:r>
            <a:endParaRPr lang="en-US" altLang="zh-CN" sz="2800" dirty="0"/>
          </a:p>
          <a:p>
            <a:pPr marL="0" indent="0">
              <a:buNone/>
            </a:pPr>
            <a:r>
              <a:rPr lang="en-US" altLang="zh-CN" sz="2800" dirty="0"/>
              <a:t>1.</a:t>
            </a:r>
            <a:r>
              <a:rPr lang="zh-CN" altLang="en-US" sz="2800" dirty="0"/>
              <a:t>产量下降、影响经济效益</a:t>
            </a:r>
            <a:endParaRPr lang="en-US" altLang="zh-CN" sz="2800" dirty="0"/>
          </a:p>
          <a:p>
            <a:pPr marL="0" indent="0">
              <a:buNone/>
            </a:pPr>
            <a:r>
              <a:rPr lang="en-US" altLang="zh-CN" sz="2800" dirty="0"/>
              <a:t>2.</a:t>
            </a:r>
            <a:r>
              <a:rPr lang="zh-CN" altLang="en-US" sz="2800" dirty="0"/>
              <a:t>政府监管所需成本大、难以落实实施</a:t>
            </a:r>
            <a:endParaRPr lang="en-US" altLang="zh-CN" sz="2800" dirty="0"/>
          </a:p>
        </p:txBody>
      </p:sp>
    </p:spTree>
    <p:extLst>
      <p:ext uri="{BB962C8B-B14F-4D97-AF65-F5344CB8AC3E}">
        <p14:creationId xmlns:p14="http://schemas.microsoft.com/office/powerpoint/2010/main" val="1029502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A50D6A-71A1-6DF2-D082-0104E3F09DF4}"/>
              </a:ext>
            </a:extLst>
          </p:cNvPr>
          <p:cNvSpPr>
            <a:spLocks noGrp="1"/>
          </p:cNvSpPr>
          <p:nvPr>
            <p:ph type="title"/>
          </p:nvPr>
        </p:nvSpPr>
        <p:spPr>
          <a:xfrm>
            <a:off x="608400" y="151200"/>
            <a:ext cx="10969200" cy="705600"/>
          </a:xfrm>
        </p:spPr>
        <p:txBody>
          <a:bodyPr/>
          <a:lstStyle/>
          <a:p>
            <a:r>
              <a:rPr lang="en-US" altLang="zh-CN" dirty="0"/>
              <a:t>BP</a:t>
            </a:r>
            <a:r>
              <a:rPr lang="zh-CN" altLang="en-US" dirty="0"/>
              <a:t>练习</a:t>
            </a:r>
          </a:p>
        </p:txBody>
      </p:sp>
      <p:sp>
        <p:nvSpPr>
          <p:cNvPr id="3" name="内容占位符 2">
            <a:extLst>
              <a:ext uri="{FF2B5EF4-FFF2-40B4-BE49-F238E27FC236}">
                <a16:creationId xmlns:a16="http://schemas.microsoft.com/office/drawing/2014/main" id="{CE71A940-D9B1-525E-CF35-5DCD2E06F2F8}"/>
              </a:ext>
            </a:extLst>
          </p:cNvPr>
          <p:cNvSpPr>
            <a:spLocks noGrp="1"/>
          </p:cNvSpPr>
          <p:nvPr>
            <p:ph idx="1"/>
          </p:nvPr>
        </p:nvSpPr>
        <p:spPr/>
        <p:txBody>
          <a:bodyPr>
            <a:normAutofit/>
          </a:bodyPr>
          <a:lstStyle/>
          <a:p>
            <a:pPr marL="0" indent="0">
              <a:buNone/>
            </a:pPr>
            <a:r>
              <a:rPr lang="zh-CN" altLang="en-US" sz="2800" dirty="0"/>
              <a:t>无人驾驶好处：</a:t>
            </a:r>
            <a:endParaRPr lang="en-US" altLang="zh-CN" sz="2800" dirty="0"/>
          </a:p>
          <a:p>
            <a:pPr marL="0" indent="0">
              <a:buNone/>
            </a:pPr>
            <a:r>
              <a:rPr lang="en-US" altLang="zh-CN" sz="2800" dirty="0"/>
              <a:t>1.</a:t>
            </a:r>
            <a:r>
              <a:rPr lang="zh-CN" altLang="en-US" sz="2800" dirty="0"/>
              <a:t>杜绝人驾驶由于疲劳驾驶等原因导致的高事故率</a:t>
            </a:r>
            <a:endParaRPr lang="en-US" altLang="zh-CN" sz="2800" dirty="0"/>
          </a:p>
          <a:p>
            <a:pPr marL="0" indent="0">
              <a:buNone/>
            </a:pPr>
            <a:r>
              <a:rPr lang="en-US" altLang="zh-CN" sz="2800" dirty="0"/>
              <a:t>2.</a:t>
            </a:r>
            <a:r>
              <a:rPr lang="zh-CN" altLang="en-US" sz="2800" dirty="0"/>
              <a:t>解放人力，劳动力可从事更高脑力劳动的工作</a:t>
            </a:r>
            <a:endParaRPr lang="en-US" altLang="zh-CN" sz="2800" dirty="0"/>
          </a:p>
          <a:p>
            <a:pPr marL="0" indent="0">
              <a:buNone/>
            </a:pPr>
            <a:r>
              <a:rPr lang="zh-CN" altLang="en-US" sz="2800" dirty="0"/>
              <a:t>坏处：</a:t>
            </a:r>
            <a:endParaRPr lang="en-US" altLang="zh-CN" sz="2800" dirty="0"/>
          </a:p>
          <a:p>
            <a:pPr marL="0" indent="0">
              <a:buNone/>
            </a:pPr>
            <a:r>
              <a:rPr lang="en-US" altLang="zh-CN" sz="2800" dirty="0"/>
              <a:t>1.</a:t>
            </a:r>
            <a:r>
              <a:rPr lang="zh-CN" altLang="en-US" sz="2800" dirty="0"/>
              <a:t>技术不成熟时可能事故率较高</a:t>
            </a:r>
            <a:endParaRPr lang="en-US" altLang="zh-CN" sz="2800" dirty="0"/>
          </a:p>
          <a:p>
            <a:pPr marL="0" indent="0">
              <a:buNone/>
            </a:pPr>
            <a:r>
              <a:rPr lang="en-US" altLang="zh-CN" sz="2800" dirty="0"/>
              <a:t>2.</a:t>
            </a:r>
            <a:r>
              <a:rPr lang="zh-CN" altLang="en-US" sz="2800" dirty="0"/>
              <a:t>取代大量岗位，增加失业</a:t>
            </a:r>
          </a:p>
        </p:txBody>
      </p:sp>
    </p:spTree>
    <p:extLst>
      <p:ext uri="{BB962C8B-B14F-4D97-AF65-F5344CB8AC3E}">
        <p14:creationId xmlns:p14="http://schemas.microsoft.com/office/powerpoint/2010/main" val="40472472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425680-53A8-B014-1FF0-87F44EAB1D41}"/>
              </a:ext>
            </a:extLst>
          </p:cNvPr>
          <p:cNvSpPr>
            <a:spLocks noGrp="1"/>
          </p:cNvSpPr>
          <p:nvPr>
            <p:ph type="title"/>
          </p:nvPr>
        </p:nvSpPr>
        <p:spPr>
          <a:xfrm>
            <a:off x="608400" y="111095"/>
            <a:ext cx="10969200" cy="705600"/>
          </a:xfrm>
        </p:spPr>
        <p:txBody>
          <a:bodyPr/>
          <a:lstStyle/>
          <a:p>
            <a:r>
              <a:rPr lang="zh-CN" altLang="en-US" dirty="0"/>
              <a:t>一些建议</a:t>
            </a:r>
          </a:p>
        </p:txBody>
      </p:sp>
      <p:sp>
        <p:nvSpPr>
          <p:cNvPr id="3" name="内容占位符 2">
            <a:extLst>
              <a:ext uri="{FF2B5EF4-FFF2-40B4-BE49-F238E27FC236}">
                <a16:creationId xmlns:a16="http://schemas.microsoft.com/office/drawing/2014/main" id="{C2B43E60-1225-F4BF-E4FC-FB26E97448C5}"/>
              </a:ext>
            </a:extLst>
          </p:cNvPr>
          <p:cNvSpPr>
            <a:spLocks noGrp="1"/>
          </p:cNvSpPr>
          <p:nvPr>
            <p:ph idx="1"/>
          </p:nvPr>
        </p:nvSpPr>
        <p:spPr>
          <a:xfrm>
            <a:off x="608400" y="1594673"/>
            <a:ext cx="10969200" cy="4759200"/>
          </a:xfrm>
        </p:spPr>
        <p:txBody>
          <a:bodyPr>
            <a:normAutofit/>
          </a:bodyPr>
          <a:lstStyle/>
          <a:p>
            <a:pPr marL="0" indent="0">
              <a:buNone/>
            </a:pPr>
            <a:r>
              <a:rPr lang="zh-CN" altLang="en-US" sz="2400" dirty="0"/>
              <a:t>对于英语写作题的练习有两个误区，一些人认为写作完全不存在刷题，也有人认为写作的刷题就是将一篇文章从头到尾一字不差地写完，这两种想法实际上是一样的。实际上，有效率的写作刷题方式是在看到题目后，思考出文章结构应该如何规划、分论点都是什么，快速想到要用哪些逻辑关系、哪些句间连接词。这个过程可以写下来，也可以完全不用动笔，全程</a:t>
            </a:r>
            <a:r>
              <a:rPr lang="en-US" altLang="zh-CN" sz="2400" dirty="0"/>
              <a:t>3-5</a:t>
            </a:r>
            <a:r>
              <a:rPr lang="zh-CN" altLang="en-US" sz="2400" dirty="0"/>
              <a:t>分钟最为适宜。同时，在参考范文时重点也应关注其逻辑关系，而相对忽略质量良莠不齐的论证语言和事例。在达到一定阅题量时，一定要自己总结出文章结构和行文逻辑的套路，行程自己的思维定式。</a:t>
            </a:r>
          </a:p>
        </p:txBody>
      </p:sp>
    </p:spTree>
    <p:extLst>
      <p:ext uri="{BB962C8B-B14F-4D97-AF65-F5344CB8AC3E}">
        <p14:creationId xmlns:p14="http://schemas.microsoft.com/office/powerpoint/2010/main" val="1459682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49812-6D82-38DE-A1B5-FF51CFC460D3}"/>
              </a:ext>
            </a:extLst>
          </p:cNvPr>
          <p:cNvSpPr>
            <a:spLocks noGrp="1"/>
          </p:cNvSpPr>
          <p:nvPr>
            <p:ph type="title"/>
          </p:nvPr>
        </p:nvSpPr>
        <p:spPr>
          <a:xfrm>
            <a:off x="608400" y="141869"/>
            <a:ext cx="10969200" cy="705600"/>
          </a:xfrm>
        </p:spPr>
        <p:txBody>
          <a:bodyPr/>
          <a:lstStyle/>
          <a:p>
            <a:r>
              <a:rPr lang="en-US" altLang="zh-CN" dirty="0"/>
              <a:t>Q&amp;A</a:t>
            </a:r>
            <a:endParaRPr lang="zh-CN" altLang="en-US" dirty="0"/>
          </a:p>
        </p:txBody>
      </p:sp>
      <p:sp>
        <p:nvSpPr>
          <p:cNvPr id="3" name="内容占位符 2">
            <a:extLst>
              <a:ext uri="{FF2B5EF4-FFF2-40B4-BE49-F238E27FC236}">
                <a16:creationId xmlns:a16="http://schemas.microsoft.com/office/drawing/2014/main" id="{E0C4BF44-9A0A-C5C7-D169-BFEDC1561D9A}"/>
              </a:ext>
            </a:extLst>
          </p:cNvPr>
          <p:cNvSpPr>
            <a:spLocks noGrp="1"/>
          </p:cNvSpPr>
          <p:nvPr>
            <p:ph idx="1"/>
          </p:nvPr>
        </p:nvSpPr>
        <p:spPr>
          <a:xfrm>
            <a:off x="608400" y="2936645"/>
            <a:ext cx="10969200" cy="4759200"/>
          </a:xfrm>
        </p:spPr>
        <p:txBody>
          <a:bodyPr>
            <a:normAutofit/>
          </a:bodyPr>
          <a:lstStyle/>
          <a:p>
            <a:pPr marL="0" indent="0">
              <a:buNone/>
            </a:pPr>
            <a:r>
              <a:rPr lang="en-US" altLang="zh-CN" sz="2800" dirty="0"/>
              <a:t>Feel free to ask me any questions about EAP and IELTS test.</a:t>
            </a:r>
            <a:endParaRPr lang="zh-CN" altLang="en-US" sz="2800" dirty="0"/>
          </a:p>
        </p:txBody>
      </p:sp>
    </p:spTree>
    <p:extLst>
      <p:ext uri="{BB962C8B-B14F-4D97-AF65-F5344CB8AC3E}">
        <p14:creationId xmlns:p14="http://schemas.microsoft.com/office/powerpoint/2010/main" val="42023801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0EEFD2-B118-BE21-31B7-B97E63795932}"/>
              </a:ext>
            </a:extLst>
          </p:cNvPr>
          <p:cNvSpPr>
            <a:spLocks noGrp="1"/>
          </p:cNvSpPr>
          <p:nvPr>
            <p:ph type="title"/>
          </p:nvPr>
        </p:nvSpPr>
        <p:spPr>
          <a:xfrm>
            <a:off x="544232" y="231411"/>
            <a:ext cx="10969200" cy="705600"/>
          </a:xfrm>
        </p:spPr>
        <p:txBody>
          <a:bodyPr/>
          <a:lstStyle/>
          <a:p>
            <a:endParaRPr lang="zh-CN" altLang="en-US" dirty="0"/>
          </a:p>
        </p:txBody>
      </p:sp>
      <p:sp>
        <p:nvSpPr>
          <p:cNvPr id="3" name="内容占位符 2">
            <a:extLst>
              <a:ext uri="{FF2B5EF4-FFF2-40B4-BE49-F238E27FC236}">
                <a16:creationId xmlns:a16="http://schemas.microsoft.com/office/drawing/2014/main" id="{79126466-C751-89F1-3FAB-97B7BF80D877}"/>
              </a:ext>
            </a:extLst>
          </p:cNvPr>
          <p:cNvSpPr>
            <a:spLocks noGrp="1"/>
          </p:cNvSpPr>
          <p:nvPr>
            <p:ph idx="1"/>
          </p:nvPr>
        </p:nvSpPr>
        <p:spPr>
          <a:xfrm>
            <a:off x="4338189" y="2452926"/>
            <a:ext cx="10969200" cy="4759200"/>
          </a:xfrm>
        </p:spPr>
        <p:txBody>
          <a:bodyPr>
            <a:normAutofit/>
          </a:bodyPr>
          <a:lstStyle/>
          <a:p>
            <a:pPr marL="0" indent="0">
              <a:buNone/>
            </a:pPr>
            <a:r>
              <a:rPr lang="zh-CN" altLang="en-US" sz="8800" dirty="0"/>
              <a:t>谢谢！</a:t>
            </a:r>
          </a:p>
        </p:txBody>
      </p:sp>
    </p:spTree>
    <p:extLst>
      <p:ext uri="{BB962C8B-B14F-4D97-AF65-F5344CB8AC3E}">
        <p14:creationId xmlns:p14="http://schemas.microsoft.com/office/powerpoint/2010/main" val="24225060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heme/theme1.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6461</TotalTime>
  <Words>3970</Words>
  <Application>Microsoft Office PowerPoint</Application>
  <PresentationFormat>宽屏</PresentationFormat>
  <Paragraphs>320</Paragraphs>
  <Slides>60</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60</vt:i4>
      </vt:variant>
    </vt:vector>
  </HeadingPairs>
  <TitlesOfParts>
    <vt:vector size="63" baseType="lpstr">
      <vt:lpstr>Arial</vt:lpstr>
      <vt:lpstr>Wingdings</vt:lpstr>
      <vt:lpstr>1_WPS</vt:lpstr>
      <vt:lpstr>WK13-EAP写作期末复习</vt:lpstr>
      <vt:lpstr>讲师介绍</vt:lpstr>
      <vt:lpstr>PowerPoint 演示文稿</vt:lpstr>
      <vt:lpstr>需要注意的写作学术规范细节</vt:lpstr>
      <vt:lpstr>需要注意的写作学术规范细节</vt:lpstr>
      <vt:lpstr>题型概述</vt:lpstr>
      <vt:lpstr>文章结构</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范文精析</vt:lpstr>
      <vt:lpstr>PowerPoint 演示文稿</vt:lpstr>
      <vt:lpstr>遣词造句</vt:lpstr>
      <vt:lpstr>遣词造句</vt:lpstr>
      <vt:lpstr>遣词造句</vt:lpstr>
      <vt:lpstr>遣词造句</vt:lpstr>
      <vt:lpstr>遣词造句</vt:lpstr>
      <vt:lpstr>遣词造句</vt:lpstr>
      <vt:lpstr>遣词造句</vt:lpstr>
      <vt:lpstr>遣词造句</vt:lpstr>
      <vt:lpstr>遣词造句</vt:lpstr>
      <vt:lpstr>遣词造句</vt:lpstr>
      <vt:lpstr>论点生成</vt:lpstr>
      <vt:lpstr>论点生成</vt:lpstr>
      <vt:lpstr>论点生成</vt:lpstr>
      <vt:lpstr>论点生成</vt:lpstr>
      <vt:lpstr>论点生成</vt:lpstr>
      <vt:lpstr>论点生成</vt:lpstr>
      <vt:lpstr>论点生成</vt:lpstr>
      <vt:lpstr>论点生成</vt:lpstr>
      <vt:lpstr>论点生成</vt:lpstr>
      <vt:lpstr>主体段内容</vt:lpstr>
      <vt:lpstr>BP练习</vt:lpstr>
      <vt:lpstr>BP练习</vt:lpstr>
      <vt:lpstr>BP练习</vt:lpstr>
      <vt:lpstr>BP练习</vt:lpstr>
      <vt:lpstr>一些建议</vt:lpstr>
      <vt:lpstr>Q&amp;A</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Jincheng.Song24</cp:lastModifiedBy>
  <cp:revision>201</cp:revision>
  <dcterms:created xsi:type="dcterms:W3CDTF">2019-06-19T02:08:00Z</dcterms:created>
  <dcterms:modified xsi:type="dcterms:W3CDTF">2026-03-12T10:29:18Z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5B4DC316A3B645688F396D5246BA7FA3_11</vt:lpwstr>
  </property>
</Properties>
</file>